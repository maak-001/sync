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2" d="100"/>
          <a:sy n="72" d="100"/>
        </p:scale>
        <p:origin x="4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Aqueel Ahmed Khan" userId="4dddab43a5788597" providerId="LiveId" clId="{C762A8B4-D2D7-428A-8439-8776ECECA599}"/>
    <pc:docChg chg="modSld">
      <pc:chgData name="Mohammed Aqueel Ahmed Khan" userId="4dddab43a5788597" providerId="LiveId" clId="{C762A8B4-D2D7-428A-8439-8776ECECA599}" dt="2026-10-10T04:01:35.807" v="41" actId="255"/>
      <pc:docMkLst>
        <pc:docMk/>
      </pc:docMkLst>
      <pc:sldChg chg="modSp mod">
        <pc:chgData name="Mohammed Aqueel Ahmed Khan" userId="4dddab43a5788597" providerId="LiveId" clId="{C762A8B4-D2D7-428A-8439-8776ECECA599}" dt="2026-10-10T04:01:35.807" v="41" actId="255"/>
        <pc:sldMkLst>
          <pc:docMk/>
          <pc:sldMk cId="1555230805" sldId="256"/>
        </pc:sldMkLst>
        <pc:spChg chg="mod">
          <ac:chgData name="Mohammed Aqueel Ahmed Khan" userId="4dddab43a5788597" providerId="LiveId" clId="{C762A8B4-D2D7-428A-8439-8776ECECA599}" dt="2026-10-10T04:01:35.807" v="41" actId="255"/>
          <ac:spMkLst>
            <pc:docMk/>
            <pc:sldMk cId="1555230805" sldId="256"/>
            <ac:spMk id="6" creationId="{597347F1-28F4-CA71-7AD5-C85684D7431E}"/>
          </ac:spMkLst>
        </pc:spChg>
        <pc:spChg chg="mod">
          <ac:chgData name="Mohammed Aqueel Ahmed Khan" userId="4dddab43a5788597" providerId="LiveId" clId="{C762A8B4-D2D7-428A-8439-8776ECECA599}" dt="2026-10-10T04:00:47.140" v="25" actId="20577"/>
          <ac:spMkLst>
            <pc:docMk/>
            <pc:sldMk cId="1555230805" sldId="256"/>
            <ac:spMk id="10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3F402-29DA-397B-6E58-41B761CB79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005959-859C-9FF4-7DA1-EFBCD45BB3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5F5159-A0B9-48B7-B24B-0C5CDF5AB360}"/>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5" name="Footer Placeholder 4">
            <a:extLst>
              <a:ext uri="{FF2B5EF4-FFF2-40B4-BE49-F238E27FC236}">
                <a16:creationId xmlns:a16="http://schemas.microsoft.com/office/drawing/2014/main" id="{ED97D482-5E9D-56CD-E97C-2EFC9AA741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2AA2CA-913F-B967-9981-52C167C38CA4}"/>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2390791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85FCE-485A-E498-5634-784AC83DCD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53ADFE-FF7E-348C-E6DC-65C560EB92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9AEF3F-F775-A1C5-D8F0-7676B92E2986}"/>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5" name="Footer Placeholder 4">
            <a:extLst>
              <a:ext uri="{FF2B5EF4-FFF2-40B4-BE49-F238E27FC236}">
                <a16:creationId xmlns:a16="http://schemas.microsoft.com/office/drawing/2014/main" id="{1044DAD8-0B42-9A76-293D-D6521F81D8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2EE94F-42A2-9FDC-D629-37110730BBFC}"/>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1830360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67C00-6B4D-FA6F-9FCB-D01CABC73E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EB16DC-0F3E-D3BC-67BC-FFAAEAF24B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59574E-06EE-EC26-FF41-9EBC8C1326C1}"/>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5" name="Footer Placeholder 4">
            <a:extLst>
              <a:ext uri="{FF2B5EF4-FFF2-40B4-BE49-F238E27FC236}">
                <a16:creationId xmlns:a16="http://schemas.microsoft.com/office/drawing/2014/main" id="{2D5C22B6-109B-75C1-7A47-AFFD46B458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2718DB-E9FF-9532-9F37-0223E83DB09D}"/>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203007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CD079-1B10-C9E2-5948-F2F55D4FF1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E2A073-0073-040A-8D3B-4476F1C702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D4E2B3-8DCD-BC92-30AE-E66768DCD1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87165D-20B7-C065-BCA2-259288569DB5}"/>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6" name="Footer Placeholder 5">
            <a:extLst>
              <a:ext uri="{FF2B5EF4-FFF2-40B4-BE49-F238E27FC236}">
                <a16:creationId xmlns:a16="http://schemas.microsoft.com/office/drawing/2014/main" id="{C84F52A3-0694-3B49-C4BF-A3C50B82E0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E9A3AA-4C02-AE67-E390-0D5374B3D804}"/>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4031690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9AC31-EAFB-F104-9F4E-7D1A3B8FB9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DD5E4A-5469-B1D6-4881-DCD8D6912F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322485-984D-D971-FABB-763C6AFB29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979988-FF9B-DF99-E51C-8B9332E8FE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059B1B-0B06-7D73-267E-21F3F9973A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3C7DA4-2C10-B5B0-CCA8-99702A64E767}"/>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8" name="Footer Placeholder 7">
            <a:extLst>
              <a:ext uri="{FF2B5EF4-FFF2-40B4-BE49-F238E27FC236}">
                <a16:creationId xmlns:a16="http://schemas.microsoft.com/office/drawing/2014/main" id="{320E799F-6B2C-5813-4694-892F5CBAFD0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70C304-1F07-F2EA-9805-0272E419DA95}"/>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3487297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8011-C5B0-6205-9BA7-CB28ACB813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87BC55-4130-0601-E83C-808713200D57}"/>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4" name="Footer Placeholder 3">
            <a:extLst>
              <a:ext uri="{FF2B5EF4-FFF2-40B4-BE49-F238E27FC236}">
                <a16:creationId xmlns:a16="http://schemas.microsoft.com/office/drawing/2014/main" id="{312FCD70-8107-567D-2971-36C8133E9E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4113FF9-D39E-8E34-FDB0-B884E2430225}"/>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3352248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08A447-04C1-FBF3-64C1-29C93BFBD103}"/>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3" name="Footer Placeholder 2">
            <a:extLst>
              <a:ext uri="{FF2B5EF4-FFF2-40B4-BE49-F238E27FC236}">
                <a16:creationId xmlns:a16="http://schemas.microsoft.com/office/drawing/2014/main" id="{48D4E662-DAF8-3F1B-203E-3E8485EB6D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9DC3EC-A692-FC5F-F987-7A3703EF9933}"/>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2205346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A290-3141-FCC8-C47C-1CEA49DC88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EAB294-AE4F-A352-EE1E-B4A7F24509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2C0EC39-B4BD-1D5C-7CB2-0052321FE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D12E2D-87CB-A4FF-0BB9-6BDDC1D8B866}"/>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6" name="Footer Placeholder 5">
            <a:extLst>
              <a:ext uri="{FF2B5EF4-FFF2-40B4-BE49-F238E27FC236}">
                <a16:creationId xmlns:a16="http://schemas.microsoft.com/office/drawing/2014/main" id="{1FF5579E-94CA-4674-F098-A1D7093C4A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841358-5ADF-6905-5FF1-6777A94C782E}"/>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16366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D4035-9F27-EEBE-93DD-E096AB282E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E7BA1C-DAAB-0DD8-DDD5-48883CB0318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31778FC-BEBD-C938-BE03-51BC26176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0B1503-BBA5-3AAC-9B8B-5F72A0D0AB8B}"/>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6" name="Footer Placeholder 5">
            <a:extLst>
              <a:ext uri="{FF2B5EF4-FFF2-40B4-BE49-F238E27FC236}">
                <a16:creationId xmlns:a16="http://schemas.microsoft.com/office/drawing/2014/main" id="{883B0703-7FDF-2591-9BE3-F5FCE07D52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1FD893-7364-1498-D708-828C853EF980}"/>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293631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6E69-2ECA-BFFA-2B65-4BE0D66667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20EF8F-4CA0-62A5-DF36-FC0A2E469B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7EC369-6C42-BC32-3FAE-909D4F8997E2}"/>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5" name="Footer Placeholder 4">
            <a:extLst>
              <a:ext uri="{FF2B5EF4-FFF2-40B4-BE49-F238E27FC236}">
                <a16:creationId xmlns:a16="http://schemas.microsoft.com/office/drawing/2014/main" id="{05B7EC10-06D3-8C8D-DE3D-41F51E4FC6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9745DB-EFD0-FFC4-E5EA-16344EDAC16F}"/>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3679270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7AF2FF-BDAA-3AB7-C9A9-0609367837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F718A9-6D3D-D1B1-A405-232B4BE8C0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5AFF1A-5F59-A93F-A14C-80BE15F37BFE}"/>
              </a:ext>
            </a:extLst>
          </p:cNvPr>
          <p:cNvSpPr>
            <a:spLocks noGrp="1"/>
          </p:cNvSpPr>
          <p:nvPr>
            <p:ph type="dt" sz="half" idx="10"/>
          </p:nvPr>
        </p:nvSpPr>
        <p:spPr/>
        <p:txBody>
          <a:bodyPr/>
          <a:lstStyle/>
          <a:p>
            <a:fld id="{0F22D898-A8B6-4BA8-8CAA-2801FDC31292}" type="datetimeFigureOut">
              <a:rPr lang="en-IN" smtClean="0"/>
              <a:t>10-10-2026</a:t>
            </a:fld>
            <a:endParaRPr lang="en-IN"/>
          </a:p>
        </p:txBody>
      </p:sp>
      <p:sp>
        <p:nvSpPr>
          <p:cNvPr id="5" name="Footer Placeholder 4">
            <a:extLst>
              <a:ext uri="{FF2B5EF4-FFF2-40B4-BE49-F238E27FC236}">
                <a16:creationId xmlns:a16="http://schemas.microsoft.com/office/drawing/2014/main" id="{529D35D8-5DBD-3E03-E320-7F90F67B57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25B09-DE83-F09C-5439-ECB2093077CA}"/>
              </a:ext>
            </a:extLst>
          </p:cNvPr>
          <p:cNvSpPr>
            <a:spLocks noGrp="1"/>
          </p:cNvSpPr>
          <p:nvPr>
            <p:ph type="sldNum" sz="quarter" idx="12"/>
          </p:nvPr>
        </p:nvSpPr>
        <p:spPr/>
        <p:txBody>
          <a:bodyPr/>
          <a:lstStyle/>
          <a:p>
            <a:fld id="{ABDAE67D-547A-4DF3-8AEA-E67819B1E916}" type="slidenum">
              <a:rPr lang="en-IN" smtClean="0"/>
              <a:t>‹#›</a:t>
            </a:fld>
            <a:endParaRPr lang="en-IN"/>
          </a:p>
        </p:txBody>
      </p:sp>
    </p:spTree>
    <p:extLst>
      <p:ext uri="{BB962C8B-B14F-4D97-AF65-F5344CB8AC3E}">
        <p14:creationId xmlns:p14="http://schemas.microsoft.com/office/powerpoint/2010/main" val="1612902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3EE29-B37D-A192-C866-D6B22998B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36BDB1-A5B2-569B-716D-889309ED34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0203BA-4856-4230-C56B-9D0B57A2CA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22D898-A8B6-4BA8-8CAA-2801FDC31292}" type="datetimeFigureOut">
              <a:rPr lang="en-IN" smtClean="0"/>
              <a:t>10-10-2026</a:t>
            </a:fld>
            <a:endParaRPr lang="en-IN"/>
          </a:p>
        </p:txBody>
      </p:sp>
      <p:sp>
        <p:nvSpPr>
          <p:cNvPr id="5" name="Footer Placeholder 4">
            <a:extLst>
              <a:ext uri="{FF2B5EF4-FFF2-40B4-BE49-F238E27FC236}">
                <a16:creationId xmlns:a16="http://schemas.microsoft.com/office/drawing/2014/main" id="{2AF63C06-D6C4-650C-767C-4FAF55892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3BDEA3-C19B-B26E-450A-D4E98A296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AE67D-547A-4DF3-8AEA-E67819B1E916}" type="slidenum">
              <a:rPr lang="en-IN" smtClean="0"/>
              <a:t>‹#›</a:t>
            </a:fld>
            <a:endParaRPr lang="en-IN"/>
          </a:p>
        </p:txBody>
      </p:sp>
    </p:spTree>
    <p:extLst>
      <p:ext uri="{BB962C8B-B14F-4D97-AF65-F5344CB8AC3E}">
        <p14:creationId xmlns:p14="http://schemas.microsoft.com/office/powerpoint/2010/main" val="1752276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589A07-38C1-46C1-7709-004A4F6C96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97347F1-28F4-CA71-7AD5-C85684D7431E}"/>
              </a:ext>
            </a:extLst>
          </p:cNvPr>
          <p:cNvSpPr txBox="1"/>
          <p:nvPr/>
        </p:nvSpPr>
        <p:spPr>
          <a:xfrm>
            <a:off x="2595715" y="2955707"/>
            <a:ext cx="7256207" cy="707886"/>
          </a:xfrm>
          <a:prstGeom prst="rect">
            <a:avLst/>
          </a:prstGeom>
          <a:noFill/>
        </p:spPr>
        <p:txBody>
          <a:bodyPr wrap="square" rtlCol="0">
            <a:spAutoFit/>
          </a:bodyPr>
          <a:lstStyle/>
          <a:p>
            <a:pPr algn="ctr"/>
            <a:r>
              <a:rPr lang="en-IN" sz="4000" b="1" dirty="0">
                <a:solidFill>
                  <a:schemeClr val="bg1"/>
                </a:solidFill>
                <a:latin typeface="Clash Display" pitchFamily="50" charset="0"/>
              </a:rPr>
              <a:t>IISR</a:t>
            </a:r>
            <a:r>
              <a:rPr lang="en-IN" sz="3600" b="1" dirty="0">
                <a:solidFill>
                  <a:schemeClr val="bg1"/>
                </a:solidFill>
                <a:latin typeface="Clash Display" pitchFamily="50" charset="0"/>
              </a:rPr>
              <a:t>    P2GN1</a:t>
            </a:r>
          </a:p>
        </p:txBody>
      </p:sp>
      <p:sp>
        <p:nvSpPr>
          <p:cNvPr id="101" name="Sync 101"/>
          <p:cNvSpPr txBox="1"/>
          <p:nvPr/>
        </p:nvSpPr>
        <p:spPr>
          <a:xfrm>
            <a:off x="1500000" y="4420000"/>
            <a:ext cx="9192000" cy="560000"/>
          </a:xfrm>
          <a:prstGeom prst="rect">
            <a:avLst/>
          </a:prstGeom>
          <a:noFill/>
          <a:ln>
            <a:noFill/>
          </a:ln>
        </p:spPr>
        <p:txBody>
          <a:bodyPr wrap="square" lIns="0" tIns="0" rIns="0" bIns="0" rtlCol="0" anchor="t">
            <a:noAutofit/>
          </a:bodyPr>
          <a:lstStyle/>
          <a:p>
            <a:pPr algn="ctr">
              <a:spcBef>
                <a:spcPts val="0"/>
              </a:spcBef>
              <a:spcAft>
                <a:spcPts val="0"/>
              </a:spcAft>
              <a:buNone/>
            </a:pPr>
            <a:r>
              <a:rPr lang="en-IN" sz="2600" b="0" i="0" dirty="0">
                <a:solidFill>
                  <a:srgbClr val="FFFFFF"/>
                </a:solidFill>
                <a:latin typeface="Segoe UI Semibold"/>
                <a:cs typeface="Segoe UI Semibold"/>
              </a:rPr>
              <a:t>Sync — nothing important missed</a:t>
            </a:r>
          </a:p>
        </p:txBody>
      </p:sp>
      <p:sp>
        <p:nvSpPr>
          <p:cNvPr id="102" name="Sync 102"/>
          <p:cNvSpPr txBox="1"/>
          <p:nvPr/>
        </p:nvSpPr>
        <p:spPr>
          <a:xfrm>
            <a:off x="1500000" y="4980000"/>
            <a:ext cx="9192000" cy="420000"/>
          </a:xfrm>
          <a:prstGeom prst="rect">
            <a:avLst/>
          </a:prstGeom>
          <a:noFill/>
          <a:ln>
            <a:noFill/>
          </a:ln>
        </p:spPr>
        <p:txBody>
          <a:bodyPr wrap="square" lIns="0" tIns="0" rIns="0" bIns="0" rtlCol="0" anchor="t">
            <a:noAutofit/>
          </a:bodyPr>
          <a:lstStyle/>
          <a:p>
            <a:pPr algn="ctr">
              <a:spcBef>
                <a:spcPts val="0"/>
              </a:spcBef>
              <a:spcAft>
                <a:spcPts val="0"/>
              </a:spcAft>
              <a:buNone/>
            </a:pPr>
            <a:r>
              <a:rPr lang="en-IN" sz="1600" b="0" i="0" dirty="0">
                <a:solidFill>
                  <a:srgbClr val="FFFFFF"/>
                </a:solidFill>
                <a:latin typeface="Segoe UI"/>
                <a:cs typeface="Segoe UI"/>
              </a:rPr>
              <a:t>Problem statement PR 007 · General</a:t>
            </a:r>
          </a:p>
        </p:txBody>
      </p:sp>
    </p:spTree>
    <p:extLst>
      <p:ext uri="{BB962C8B-B14F-4D97-AF65-F5344CB8AC3E}">
        <p14:creationId xmlns:p14="http://schemas.microsoft.com/office/powerpoint/2010/main" val="1555230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7D30F-F474-145D-8B02-8991205142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8B3ADE6-55B2-DB09-35FB-ACD7B727F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EFAB06F3-41C8-96EC-7994-14E2238DD8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D5778E16-AB36-B327-231C-23621FEBF5DE}"/>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latin typeface="Clash Display" pitchFamily="50" charset="0"/>
              </a:rPr>
              <a:t>Introduction</a:t>
            </a:r>
          </a:p>
        </p:txBody>
      </p:sp>
      <p:sp>
        <p:nvSpPr>
          <p:cNvPr id="101" name="Sync 101"/>
          <p:cNvSpPr txBox="1"/>
          <p:nvPr/>
        </p:nvSpPr>
        <p:spPr>
          <a:xfrm>
            <a:off x="560000" y="1160000"/>
            <a:ext cx="11080000" cy="1300000"/>
          </a:xfrm>
          <a:prstGeom prst="rect">
            <a:avLst/>
          </a:prstGeom>
          <a:noFill/>
          <a:ln>
            <a:noFill/>
          </a:ln>
        </p:spPr>
        <p:txBody>
          <a:bodyPr wrap="square" lIns="0" tIns="0" rIns="0" bIns="0" rtlCol="0" anchor="t">
            <a:noAutofit/>
          </a:bodyPr>
          <a:lstStyle/>
          <a:p>
            <a:pPr algn="l">
              <a:spcBef>
                <a:spcPts val="0"/>
              </a:spcBef>
              <a:spcAft>
                <a:spcPts val="700"/>
              </a:spcAft>
              <a:buNone/>
            </a:pPr>
            <a:r>
              <a:rPr lang="en-IN" sz="2400" b="0" i="0" dirty="0">
                <a:solidFill>
                  <a:srgbClr val="1D1D1F"/>
                </a:solidFill>
                <a:latin typeface="Segoe UI Semibold"/>
                <a:cs typeface="Segoe UI Semibold"/>
              </a:rPr>
              <a:t>Sync is a private copilot for the conversations that matter.</a:t>
            </a:r>
          </a:p>
          <a:p>
            <a:pPr algn="l">
              <a:lnSpc>
                <a:spcPct val="110000"/>
              </a:lnSpc>
              <a:spcBef>
                <a:spcPts val="0"/>
              </a:spcBef>
              <a:spcAft>
                <a:spcPts val="0"/>
              </a:spcAft>
              <a:buNone/>
            </a:pPr>
            <a:r>
              <a:rPr lang="en-IN" sz="1700" b="0" i="0" dirty="0">
                <a:solidFill>
                  <a:srgbClr val="5F5F64"/>
                </a:solidFill>
                <a:latin typeface="Segoe UI"/>
                <a:cs typeface="Segoe UI"/>
              </a:rPr>
              <a:t>It sits on your side of every call and meeting. It listens on your own laptop, quietly points out what's being missed while you can still act, and remembers every project, so nothing that was said is ever lost.</a:t>
            </a:r>
          </a:p>
        </p:txBody>
      </p:sp>
      <p:sp>
        <p:nvSpPr>
          <p:cNvPr id="102" name="Sync 102"/>
          <p:cNvSpPr txBox="1"/>
          <p:nvPr/>
        </p:nvSpPr>
        <p:spPr>
          <a:xfrm>
            <a:off x="560000" y="2810000"/>
            <a:ext cx="3506666" cy="200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2000" b="0" i="0" dirty="0">
                <a:solidFill>
                  <a:srgbClr val="D4070F"/>
                </a:solidFill>
                <a:latin typeface="Segoe UI Semibold"/>
                <a:cs typeface="Segoe UI Semibold"/>
              </a:rPr>
              <a:t>01  </a:t>
            </a:r>
            <a:r>
              <a:rPr lang="en-IN" sz="2000" b="0" i="0" dirty="0">
                <a:solidFill>
                  <a:srgbClr val="1D1D1F"/>
                </a:solidFill>
                <a:latin typeface="Segoe UI Semibold"/>
                <a:cs typeface="Segoe UI Semibold"/>
              </a:rPr>
              <a:t>Listens with you</a:t>
            </a:r>
          </a:p>
          <a:p>
            <a:pPr algn="l">
              <a:lnSpc>
                <a:spcPct val="105000"/>
              </a:lnSpc>
              <a:spcBef>
                <a:spcPts val="0"/>
              </a:spcBef>
              <a:spcAft>
                <a:spcPts val="200"/>
              </a:spcAft>
              <a:buNone/>
            </a:pPr>
            <a:r>
              <a:rPr lang="en-IN" sz="1600" b="0" i="0" dirty="0">
                <a:solidFill>
                  <a:srgbClr val="5F5F64"/>
                </a:solidFill>
                <a:latin typeface="Segoe UI"/>
                <a:cs typeface="Segoe UI"/>
              </a:rPr>
              <a:t>Joins your calls automatically: Phone Link, Zoom, Teams, Meet and WhatsApp. Skip any call with one key.</a:t>
            </a:r>
          </a:p>
        </p:txBody>
      </p:sp>
      <p:sp>
        <p:nvSpPr>
          <p:cNvPr id="103" name="Sync 103"/>
          <p:cNvSpPr txBox="1"/>
          <p:nvPr/>
        </p:nvSpPr>
        <p:spPr>
          <a:xfrm>
            <a:off x="4346666" y="2810000"/>
            <a:ext cx="3506666" cy="200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2000" b="0" i="0" dirty="0">
                <a:solidFill>
                  <a:srgbClr val="D4070F"/>
                </a:solidFill>
                <a:latin typeface="Segoe UI Semibold"/>
                <a:cs typeface="Segoe UI Semibold"/>
              </a:rPr>
              <a:t>02  </a:t>
            </a:r>
            <a:r>
              <a:rPr lang="en-IN" sz="2000" b="0" i="0" dirty="0">
                <a:solidFill>
                  <a:srgbClr val="1D1D1F"/>
                </a:solidFill>
                <a:latin typeface="Segoe UI Semibold"/>
                <a:cs typeface="Segoe UI Semibold"/>
              </a:rPr>
              <a:t>Nudges in the moment</a:t>
            </a:r>
          </a:p>
          <a:p>
            <a:pPr algn="l">
              <a:lnSpc>
                <a:spcPct val="105000"/>
              </a:lnSpc>
              <a:spcBef>
                <a:spcPts val="0"/>
              </a:spcBef>
              <a:spcAft>
                <a:spcPts val="200"/>
              </a:spcAft>
              <a:buNone/>
            </a:pPr>
            <a:r>
              <a:rPr lang="en-IN" sz="1600" b="0" i="0" dirty="0">
                <a:solidFill>
                  <a:srgbClr val="5F5F64"/>
                </a:solidFill>
                <a:latin typeface="Segoe UI"/>
                <a:cs typeface="Segoe UI"/>
              </a:rPr>
              <a:t>One short, private hint on your screen when a question goes unasked or a detail doesn't add up.</a:t>
            </a:r>
          </a:p>
        </p:txBody>
      </p:sp>
      <p:sp>
        <p:nvSpPr>
          <p:cNvPr id="104" name="Sync 104"/>
          <p:cNvSpPr txBox="1"/>
          <p:nvPr/>
        </p:nvSpPr>
        <p:spPr>
          <a:xfrm>
            <a:off x="8133333" y="2810000"/>
            <a:ext cx="3506666" cy="200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2000" b="0" i="0" dirty="0">
                <a:solidFill>
                  <a:srgbClr val="D4070F"/>
                </a:solidFill>
                <a:latin typeface="Segoe UI Semibold"/>
                <a:cs typeface="Segoe UI Semibold"/>
              </a:rPr>
              <a:t>03  </a:t>
            </a:r>
            <a:r>
              <a:rPr lang="en-IN" sz="2000" b="0" i="0" dirty="0">
                <a:solidFill>
                  <a:srgbClr val="1D1D1F"/>
                </a:solidFill>
                <a:latin typeface="Segoe UI Semibold"/>
                <a:cs typeface="Segoe UI Semibold"/>
              </a:rPr>
              <a:t>Remembers by project</a:t>
            </a:r>
          </a:p>
          <a:p>
            <a:pPr algn="l">
              <a:lnSpc>
                <a:spcPct val="105000"/>
              </a:lnSpc>
              <a:spcBef>
                <a:spcPts val="0"/>
              </a:spcBef>
              <a:spcAft>
                <a:spcPts val="200"/>
              </a:spcAft>
              <a:buNone/>
            </a:pPr>
            <a:r>
              <a:rPr lang="en-IN" sz="1600" b="0" i="0" dirty="0">
                <a:solidFill>
                  <a:srgbClr val="5F5F64"/>
                </a:solidFill>
                <a:latin typeface="Segoe UI"/>
                <a:cs typeface="Segoe UI"/>
              </a:rPr>
              <a:t>Every fact, number, decision and promise lands in the right project, ready for your next call.</a:t>
            </a:r>
          </a:p>
        </p:txBody>
      </p:sp>
      <p:sp>
        <p:nvSpPr>
          <p:cNvPr id="105" name="Sync 105"/>
          <p:cNvSpPr txBox="1"/>
          <p:nvPr/>
        </p:nvSpPr>
        <p:spPr>
          <a:xfrm>
            <a:off x="560000" y="5230000"/>
            <a:ext cx="11080000" cy="1100000"/>
          </a:xfrm>
          <a:prstGeom prst="rect">
            <a:avLst/>
          </a:prstGeom>
          <a:noFill/>
          <a:ln>
            <a:noFill/>
          </a:ln>
        </p:spPr>
        <p:txBody>
          <a:bodyPr wrap="square" lIns="0" tIns="0" rIns="0" bIns="0" rtlCol="0" anchor="t">
            <a:noAutofit/>
          </a:bodyPr>
          <a:lstStyle/>
          <a:p>
            <a:pPr algn="l">
              <a:spcBef>
                <a:spcPts val="0"/>
              </a:spcBef>
              <a:spcAft>
                <a:spcPts val="900"/>
              </a:spcAft>
              <a:buNone/>
            </a:pPr>
            <a:r>
              <a:rPr lang="en-IN" sz="1600" b="0" i="0" dirty="0">
                <a:solidFill>
                  <a:srgbClr val="5F5F64"/>
                </a:solidFill>
                <a:latin typeface="Segoe UI"/>
                <a:cs typeface="Segoe UI"/>
              </a:rPr>
              <a:t>Made for anyone whose conversations matter: </a:t>
            </a:r>
            <a:r>
              <a:rPr lang="en-IN" sz="1600" b="0" i="0" dirty="0">
                <a:solidFill>
                  <a:srgbClr val="1D1D1F"/>
                </a:solidFill>
                <a:latin typeface="Segoe UI Semibold"/>
                <a:cs typeface="Segoe UI Semibold"/>
              </a:rPr>
              <a:t>sales calls, support, negotiations, client meetings and team discussions.</a:t>
            </a:r>
          </a:p>
          <a:p>
            <a:pPr algn="l">
              <a:spcBef>
                <a:spcPts val="0"/>
              </a:spcBef>
              <a:spcAft>
                <a:spcPts val="0"/>
              </a:spcAft>
              <a:buNone/>
            </a:pPr>
            <a:r>
              <a:rPr lang="en-IN" sz="2000" b="0" i="1" dirty="0">
                <a:solidFill>
                  <a:srgbClr val="D4070F"/>
                </a:solidFill>
                <a:latin typeface="Segoe UI Semibold"/>
                <a:cs typeface="Segoe UI Semibold"/>
              </a:rPr>
              <a:t>“Sync doesn't help you talk. It helps you finish.”</a:t>
            </a:r>
          </a:p>
        </p:txBody>
      </p:sp>
    </p:spTree>
    <p:extLst>
      <p:ext uri="{BB962C8B-B14F-4D97-AF65-F5344CB8AC3E}">
        <p14:creationId xmlns:p14="http://schemas.microsoft.com/office/powerpoint/2010/main" val="1187196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F532F-76E1-8542-0DFD-3AA1BB5C03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46B701-C6E1-23D5-56DC-D19B0873E0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3919731B-ED4D-72E4-5194-A21BF17CCA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3680F1E4-89DE-A828-3167-54A44B825891}"/>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latin typeface="Clash Display" pitchFamily="50" charset="0"/>
              </a:rPr>
              <a:t>Problem Statement</a:t>
            </a:r>
          </a:p>
        </p:txBody>
      </p:sp>
      <p:sp>
        <p:nvSpPr>
          <p:cNvPr id="101" name="Sync 101"/>
          <p:cNvSpPr txBox="1"/>
          <p:nvPr/>
        </p:nvSpPr>
        <p:spPr>
          <a:xfrm>
            <a:off x="560000" y="1060000"/>
            <a:ext cx="11080000" cy="980000"/>
          </a:xfrm>
          <a:prstGeom prst="roundRect">
            <a:avLst>
              <a:gd name="adj" fmla="val 5000"/>
            </a:avLst>
          </a:prstGeom>
          <a:solidFill>
            <a:srgbClr val="F6F6F8"/>
          </a:solidFill>
          <a:ln w="12700">
            <a:solidFill>
              <a:srgbClr val="E4E4E8"/>
            </a:solidFill>
          </a:ln>
        </p:spPr>
        <p:txBody>
          <a:bodyPr wrap="square" lIns="240000" tIns="170000" rIns="240000" bIns="140000" rtlCol="0" anchor="t">
            <a:noAutofit/>
          </a:bodyPr>
          <a:lstStyle/>
          <a:p>
            <a:pPr algn="l">
              <a:lnSpc>
                <a:spcPct val="105000"/>
              </a:lnSpc>
              <a:spcBef>
                <a:spcPts val="0"/>
              </a:spcBef>
              <a:spcAft>
                <a:spcPts val="300"/>
              </a:spcAft>
              <a:buNone/>
            </a:pPr>
            <a:r>
              <a:rPr lang="en-IN" sz="1800" b="0" i="1" dirty="0">
                <a:solidFill>
                  <a:srgbClr val="1D1D1F"/>
                </a:solidFill>
                <a:latin typeface="Segoe UI Semibold"/>
                <a:cs typeface="Segoe UI Semibold"/>
              </a:rPr>
              <a:t>“People often have to listen, think and respond at the same time, causing important points and decisions to be missed.”</a:t>
            </a:r>
          </a:p>
          <a:p>
            <a:pPr algn="l">
              <a:spcBef>
                <a:spcPts val="0"/>
              </a:spcBef>
              <a:spcAft>
                <a:spcPts val="0"/>
              </a:spcAft>
              <a:buNone/>
            </a:pPr>
            <a:r>
              <a:rPr lang="en-IN" sz="1200" b="0" i="0" dirty="0">
                <a:solidFill>
                  <a:srgbClr val="5F5F64"/>
                </a:solidFill>
                <a:latin typeface="Segoe UI"/>
                <a:cs typeface="Segoe UI"/>
              </a:rPr>
              <a:t>Problem statement PR 007</a:t>
            </a:r>
          </a:p>
        </p:txBody>
      </p:sp>
      <p:sp>
        <p:nvSpPr>
          <p:cNvPr id="102" name="Sync 102"/>
          <p:cNvSpPr txBox="1"/>
          <p:nvPr/>
        </p:nvSpPr>
        <p:spPr>
          <a:xfrm>
            <a:off x="560000" y="2360000"/>
            <a:ext cx="3506666" cy="205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1800" b="0" i="0" dirty="0">
                <a:solidFill>
                  <a:srgbClr val="D4070F"/>
                </a:solidFill>
                <a:latin typeface="Segoe UI Semibold"/>
                <a:cs typeface="Segoe UI Semibold"/>
              </a:rPr>
              <a:t>01  </a:t>
            </a:r>
            <a:r>
              <a:rPr lang="en-IN" sz="1800" b="0" i="0" dirty="0">
                <a:solidFill>
                  <a:srgbClr val="1D1D1F"/>
                </a:solidFill>
                <a:latin typeface="Segoe UI Semibold"/>
                <a:cs typeface="Segoe UI Semibold"/>
              </a:rPr>
              <a:t>Too much to hold at once</a:t>
            </a:r>
          </a:p>
          <a:p>
            <a:pPr algn="l">
              <a:lnSpc>
                <a:spcPct val="105000"/>
              </a:lnSpc>
              <a:spcBef>
                <a:spcPts val="0"/>
              </a:spcBef>
              <a:spcAft>
                <a:spcPts val="200"/>
              </a:spcAft>
              <a:buNone/>
            </a:pPr>
            <a:r>
              <a:rPr lang="en-IN" sz="1500" b="0" i="0" dirty="0">
                <a:solidFill>
                  <a:srgbClr val="5F5F64"/>
                </a:solidFill>
                <a:latin typeface="Segoe UI"/>
                <a:cs typeface="Segoe UI"/>
              </a:rPr>
              <a:t>While you listen and reply, the question you meant to ask slips away. The costliest failures are omissions, not mistakes.</a:t>
            </a:r>
          </a:p>
        </p:txBody>
      </p:sp>
      <p:sp>
        <p:nvSpPr>
          <p:cNvPr id="103" name="Sync 103"/>
          <p:cNvSpPr txBox="1"/>
          <p:nvPr/>
        </p:nvSpPr>
        <p:spPr>
          <a:xfrm>
            <a:off x="4346666" y="2360000"/>
            <a:ext cx="3506666" cy="205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1800" b="0" i="0" dirty="0">
                <a:solidFill>
                  <a:srgbClr val="D4070F"/>
                </a:solidFill>
                <a:latin typeface="Segoe UI Semibold"/>
                <a:cs typeface="Segoe UI Semibold"/>
              </a:rPr>
              <a:t>02  </a:t>
            </a:r>
            <a:r>
              <a:rPr lang="en-IN" sz="1800" b="0" i="0" dirty="0">
                <a:solidFill>
                  <a:srgbClr val="1D1D1F"/>
                </a:solidFill>
                <a:latin typeface="Segoe UI Semibold"/>
                <a:cs typeface="Segoe UI Semibold"/>
              </a:rPr>
              <a:t>Context is scattered</a:t>
            </a:r>
          </a:p>
          <a:p>
            <a:pPr algn="l">
              <a:lnSpc>
                <a:spcPct val="105000"/>
              </a:lnSpc>
              <a:spcBef>
                <a:spcPts val="0"/>
              </a:spcBef>
              <a:spcAft>
                <a:spcPts val="200"/>
              </a:spcAft>
              <a:buNone/>
            </a:pPr>
            <a:r>
              <a:rPr lang="en-IN" sz="1500" b="0" i="0" dirty="0">
                <a:solidFill>
                  <a:srgbClr val="5F5F64"/>
                </a:solidFill>
                <a:latin typeface="Segoe UI"/>
                <a:cs typeface="Segoe UI"/>
              </a:rPr>
              <a:t>One deal or project runs over many calls and people. Notes live in five places, so people re-ask, contradict each other and forget what was agreed.</a:t>
            </a:r>
          </a:p>
        </p:txBody>
      </p:sp>
      <p:sp>
        <p:nvSpPr>
          <p:cNvPr id="104" name="Sync 104"/>
          <p:cNvSpPr txBox="1"/>
          <p:nvPr/>
        </p:nvSpPr>
        <p:spPr>
          <a:xfrm>
            <a:off x="8133333" y="2360000"/>
            <a:ext cx="3506666" cy="205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1800" b="0" i="0" dirty="0">
                <a:solidFill>
                  <a:srgbClr val="D4070F"/>
                </a:solidFill>
                <a:latin typeface="Segoe UI Semibold"/>
                <a:cs typeface="Segoe UI Semibold"/>
              </a:rPr>
              <a:t>03  </a:t>
            </a:r>
            <a:r>
              <a:rPr lang="en-IN" sz="1800" b="0" i="0" dirty="0">
                <a:solidFill>
                  <a:srgbClr val="1D1D1F"/>
                </a:solidFill>
                <a:latin typeface="Segoe UI Semibold"/>
                <a:cs typeface="Segoe UI Semibold"/>
              </a:rPr>
              <a:t>Problems surface too late</a:t>
            </a:r>
          </a:p>
          <a:p>
            <a:pPr algn="l">
              <a:lnSpc>
                <a:spcPct val="105000"/>
              </a:lnSpc>
              <a:spcBef>
                <a:spcPts val="0"/>
              </a:spcBef>
              <a:spcAft>
                <a:spcPts val="200"/>
              </a:spcAft>
              <a:buNone/>
            </a:pPr>
            <a:r>
              <a:rPr lang="en-IN" sz="1500" b="0" i="0" dirty="0">
                <a:solidFill>
                  <a:srgbClr val="5F5F64"/>
                </a:solidFill>
                <a:latin typeface="Segoe UI"/>
                <a:cs typeface="Segoe UI"/>
              </a:rPr>
              <a:t>A missing owner or a vague date only shows up days later, when the deal stalls or the customer calls back.</a:t>
            </a:r>
          </a:p>
        </p:txBody>
      </p:sp>
      <p:sp>
        <p:nvSpPr>
          <p:cNvPr id="105" name="Sync 105"/>
          <p:cNvSpPr txBox="1"/>
          <p:nvPr/>
        </p:nvSpPr>
        <p:spPr>
          <a:xfrm>
            <a:off x="560000" y="4710000"/>
            <a:ext cx="11080000" cy="380000"/>
          </a:xfrm>
          <a:prstGeom prst="rect">
            <a:avLst/>
          </a:prstGeom>
          <a:noFill/>
          <a:ln>
            <a:noFill/>
          </a:ln>
        </p:spPr>
        <p:txBody>
          <a:bodyPr wrap="square" lIns="0" tIns="0" rIns="0" bIns="0" rtlCol="0" anchor="t">
            <a:noAutofit/>
          </a:bodyPr>
          <a:lstStyle/>
          <a:p>
            <a:pPr algn="l">
              <a:spcBef>
                <a:spcPts val="0"/>
              </a:spcBef>
              <a:spcAft>
                <a:spcPts val="0"/>
              </a:spcAft>
              <a:buNone/>
            </a:pPr>
            <a:r>
              <a:rPr lang="en-IN" sz="1500" b="0" i="0" dirty="0">
                <a:solidFill>
                  <a:srgbClr val="D4070F"/>
                </a:solidFill>
                <a:latin typeface="Segoe UI Semibold"/>
                <a:cs typeface="Segoe UI Semibold"/>
              </a:rPr>
              <a:t>What usually gets missed</a:t>
            </a:r>
          </a:p>
        </p:txBody>
      </p:sp>
      <p:sp>
        <p:nvSpPr>
          <p:cNvPr id="106" name="Sync 106"/>
          <p:cNvSpPr txBox="1"/>
          <p:nvPr/>
        </p:nvSpPr>
        <p:spPr>
          <a:xfrm>
            <a:off x="560000" y="5140000"/>
            <a:ext cx="2088000" cy="1330000"/>
          </a:xfrm>
          <a:prstGeom prst="roundRect">
            <a:avLst>
              <a:gd name="adj" fmla="val 12000"/>
            </a:avLst>
          </a:prstGeom>
          <a:solidFill>
            <a:srgbClr val="FFFFFF"/>
          </a:solidFill>
          <a:ln w="12700">
            <a:solidFill>
              <a:srgbClr val="F0B4B6"/>
            </a:solidFill>
          </a:ln>
        </p:spPr>
        <p:txBody>
          <a:bodyPr wrap="square" lIns="90000" tIns="60000" rIns="90000" bIns="60000" rtlCol="0" anchor="ctr">
            <a:noAutofit/>
          </a:bodyPr>
          <a:lstStyle/>
          <a:p>
            <a:pPr algn="ctr">
              <a:lnSpc>
                <a:spcPct val="105000"/>
              </a:lnSpc>
              <a:spcBef>
                <a:spcPts val="0"/>
              </a:spcBef>
              <a:spcAft>
                <a:spcPts val="0"/>
              </a:spcAft>
              <a:buNone/>
            </a:pPr>
            <a:r>
              <a:rPr lang="en-IN" sz="1300" b="0" i="0" dirty="0">
                <a:solidFill>
                  <a:srgbClr val="1D1D1F"/>
                </a:solidFill>
                <a:latin typeface="Segoe UI Semibold"/>
                <a:cs typeface="Segoe UI Semibold"/>
              </a:rPr>
              <a:t>The question nobody asked</a:t>
            </a:r>
          </a:p>
        </p:txBody>
      </p:sp>
      <p:sp>
        <p:nvSpPr>
          <p:cNvPr id="107" name="Sync 107"/>
          <p:cNvSpPr txBox="1"/>
          <p:nvPr/>
        </p:nvSpPr>
        <p:spPr>
          <a:xfrm>
            <a:off x="2808000" y="5140000"/>
            <a:ext cx="2088000" cy="1330000"/>
          </a:xfrm>
          <a:prstGeom prst="roundRect">
            <a:avLst>
              <a:gd name="adj" fmla="val 12000"/>
            </a:avLst>
          </a:prstGeom>
          <a:solidFill>
            <a:srgbClr val="FFFFFF"/>
          </a:solidFill>
          <a:ln w="12700">
            <a:solidFill>
              <a:srgbClr val="F0B4B6"/>
            </a:solidFill>
          </a:ln>
        </p:spPr>
        <p:txBody>
          <a:bodyPr wrap="square" lIns="90000" tIns="60000" rIns="90000" bIns="60000" rtlCol="0" anchor="ctr">
            <a:noAutofit/>
          </a:bodyPr>
          <a:lstStyle/>
          <a:p>
            <a:pPr algn="ctr">
              <a:lnSpc>
                <a:spcPct val="105000"/>
              </a:lnSpc>
              <a:spcBef>
                <a:spcPts val="0"/>
              </a:spcBef>
              <a:spcAft>
                <a:spcPts val="0"/>
              </a:spcAft>
              <a:buNone/>
            </a:pPr>
            <a:r>
              <a:rPr lang="en-IN" sz="1300" b="0" i="0" dirty="0">
                <a:solidFill>
                  <a:srgbClr val="1D1D1F"/>
                </a:solidFill>
                <a:latin typeface="Segoe UI Semibold"/>
                <a:cs typeface="Segoe UI Semibold"/>
              </a:rPr>
              <a:t>The condition attached to an offer</a:t>
            </a:r>
          </a:p>
        </p:txBody>
      </p:sp>
      <p:sp>
        <p:nvSpPr>
          <p:cNvPr id="108" name="Sync 108"/>
          <p:cNvSpPr txBox="1"/>
          <p:nvPr/>
        </p:nvSpPr>
        <p:spPr>
          <a:xfrm>
            <a:off x="5056000" y="5140000"/>
            <a:ext cx="2088000" cy="1330000"/>
          </a:xfrm>
          <a:prstGeom prst="roundRect">
            <a:avLst>
              <a:gd name="adj" fmla="val 12000"/>
            </a:avLst>
          </a:prstGeom>
          <a:solidFill>
            <a:srgbClr val="FFFFFF"/>
          </a:solidFill>
          <a:ln w="12700">
            <a:solidFill>
              <a:srgbClr val="F0B4B6"/>
            </a:solidFill>
          </a:ln>
        </p:spPr>
        <p:txBody>
          <a:bodyPr wrap="square" lIns="90000" tIns="60000" rIns="90000" bIns="60000" rtlCol="0" anchor="ctr">
            <a:noAutofit/>
          </a:bodyPr>
          <a:lstStyle/>
          <a:p>
            <a:pPr algn="ctr">
              <a:lnSpc>
                <a:spcPct val="105000"/>
              </a:lnSpc>
              <a:spcBef>
                <a:spcPts val="0"/>
              </a:spcBef>
              <a:spcAft>
                <a:spcPts val="0"/>
              </a:spcAft>
              <a:buNone/>
            </a:pPr>
            <a:r>
              <a:rPr lang="en-IN" sz="1300" b="0" i="0" dirty="0">
                <a:solidFill>
                  <a:srgbClr val="1D1D1F"/>
                </a:solidFill>
                <a:latin typeface="Segoe UI Semibold"/>
                <a:cs typeface="Segoe UI Semibold"/>
              </a:rPr>
              <a:t>A decision with no owner</a:t>
            </a:r>
          </a:p>
        </p:txBody>
      </p:sp>
      <p:sp>
        <p:nvSpPr>
          <p:cNvPr id="109" name="Sync 109"/>
          <p:cNvSpPr txBox="1"/>
          <p:nvPr/>
        </p:nvSpPr>
        <p:spPr>
          <a:xfrm>
            <a:off x="7304000" y="5140000"/>
            <a:ext cx="2088000" cy="1330000"/>
          </a:xfrm>
          <a:prstGeom prst="roundRect">
            <a:avLst>
              <a:gd name="adj" fmla="val 12000"/>
            </a:avLst>
          </a:prstGeom>
          <a:solidFill>
            <a:srgbClr val="FFFFFF"/>
          </a:solidFill>
          <a:ln w="12700">
            <a:solidFill>
              <a:srgbClr val="F0B4B6"/>
            </a:solidFill>
          </a:ln>
        </p:spPr>
        <p:txBody>
          <a:bodyPr wrap="square" lIns="90000" tIns="60000" rIns="90000" bIns="60000" rtlCol="0" anchor="ctr">
            <a:noAutofit/>
          </a:bodyPr>
          <a:lstStyle/>
          <a:p>
            <a:pPr algn="ctr">
              <a:lnSpc>
                <a:spcPct val="105000"/>
              </a:lnSpc>
              <a:spcBef>
                <a:spcPts val="0"/>
              </a:spcBef>
              <a:spcAft>
                <a:spcPts val="0"/>
              </a:spcAft>
              <a:buNone/>
            </a:pPr>
            <a:r>
              <a:rPr lang="en-IN" sz="1300" b="0" i="0" dirty="0">
                <a:solidFill>
                  <a:srgbClr val="1D1D1F"/>
                </a:solidFill>
                <a:latin typeface="Segoe UI Semibold"/>
                <a:cs typeface="Segoe UI Semibold"/>
              </a:rPr>
              <a:t>“We said the 15th” vs “the 22nd”</a:t>
            </a:r>
          </a:p>
        </p:txBody>
      </p:sp>
      <p:sp>
        <p:nvSpPr>
          <p:cNvPr id="110" name="Sync 110"/>
          <p:cNvSpPr txBox="1"/>
          <p:nvPr/>
        </p:nvSpPr>
        <p:spPr>
          <a:xfrm>
            <a:off x="9552000" y="5140000"/>
            <a:ext cx="2088000" cy="1330000"/>
          </a:xfrm>
          <a:prstGeom prst="roundRect">
            <a:avLst>
              <a:gd name="adj" fmla="val 12000"/>
            </a:avLst>
          </a:prstGeom>
          <a:solidFill>
            <a:srgbClr val="FFFFFF"/>
          </a:solidFill>
          <a:ln w="12700">
            <a:solidFill>
              <a:srgbClr val="F0B4B6"/>
            </a:solidFill>
          </a:ln>
        </p:spPr>
        <p:txBody>
          <a:bodyPr wrap="square" lIns="90000" tIns="60000" rIns="90000" bIns="60000" rtlCol="0" anchor="ctr">
            <a:noAutofit/>
          </a:bodyPr>
          <a:lstStyle/>
          <a:p>
            <a:pPr algn="ctr">
              <a:lnSpc>
                <a:spcPct val="105000"/>
              </a:lnSpc>
              <a:spcBef>
                <a:spcPts val="0"/>
              </a:spcBef>
              <a:spcAft>
                <a:spcPts val="0"/>
              </a:spcAft>
              <a:buNone/>
            </a:pPr>
            <a:r>
              <a:rPr lang="en-IN" sz="1300" b="0" i="0" dirty="0">
                <a:solidFill>
                  <a:srgbClr val="1D1D1F"/>
                </a:solidFill>
                <a:latin typeface="Segoe UI Semibold"/>
                <a:cs typeface="Segoe UI Semibold"/>
              </a:rPr>
              <a:t>A promise nobody wrote down</a:t>
            </a:r>
          </a:p>
        </p:txBody>
      </p:sp>
    </p:spTree>
    <p:extLst>
      <p:ext uri="{BB962C8B-B14F-4D97-AF65-F5344CB8AC3E}">
        <p14:creationId xmlns:p14="http://schemas.microsoft.com/office/powerpoint/2010/main" val="737756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697DE-A69C-DB69-602C-E82B395E47C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33562A1-D1DB-0FFD-7D2B-D75749F06C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22052C3-1640-835C-D6CB-1CA225E34F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BDA9BCA3-4C87-7F41-5A3C-34B94BE2D2A0}"/>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latin typeface="Clash Display" pitchFamily="50" charset="0"/>
              </a:rPr>
              <a:t>Proposed Solution</a:t>
            </a:r>
          </a:p>
        </p:txBody>
      </p:sp>
      <p:sp>
        <p:nvSpPr>
          <p:cNvPr id="101" name="Sync 101"/>
          <p:cNvSpPr txBox="1"/>
          <p:nvPr/>
        </p:nvSpPr>
        <p:spPr>
          <a:xfrm>
            <a:off x="560000" y="1060000"/>
            <a:ext cx="11080000" cy="480000"/>
          </a:xfrm>
          <a:prstGeom prst="rect">
            <a:avLst/>
          </a:prstGeom>
          <a:noFill/>
          <a:ln>
            <a:noFill/>
          </a:ln>
        </p:spPr>
        <p:txBody>
          <a:bodyPr wrap="square" lIns="0" tIns="0" rIns="0" bIns="0" rtlCol="0" anchor="t">
            <a:noAutofit/>
          </a:bodyPr>
          <a:lstStyle/>
          <a:p>
            <a:pPr algn="l">
              <a:spcBef>
                <a:spcPts val="0"/>
              </a:spcBef>
              <a:spcAft>
                <a:spcPts val="0"/>
              </a:spcAft>
              <a:buNone/>
            </a:pPr>
            <a:r>
              <a:rPr lang="en-IN" sz="1800" b="0" i="0" dirty="0">
                <a:solidFill>
                  <a:srgbClr val="1D1D1F"/>
                </a:solidFill>
                <a:latin typeface="Segoe UI Semibold"/>
                <a:cs typeface="Segoe UI Semibold"/>
              </a:rPr>
              <a:t>Sync works quietly before, during and after every call, and only you can see it.</a:t>
            </a:r>
          </a:p>
        </p:txBody>
      </p:sp>
      <p:pic>
        <p:nvPicPr>
          <p:cNvPr id="102" name="Sync image 102"/>
          <p:cNvPicPr>
            <a:picLocks noChangeAspect="1"/>
          </p:cNvPicPr>
          <p:nvPr/>
        </p:nvPicPr>
        <p:blipFill>
          <a:blip r:embed="rId4"/>
          <a:stretch>
            <a:fillRect/>
          </a:stretch>
        </p:blipFill>
        <p:spPr>
          <a:xfrm>
            <a:off x="560000" y="1680000"/>
            <a:ext cx="11080000" cy="3308990"/>
          </a:xfrm>
          <a:prstGeom prst="rect">
            <a:avLst/>
          </a:prstGeom>
        </p:spPr>
      </p:pic>
      <p:sp>
        <p:nvSpPr>
          <p:cNvPr id="103" name="Sync 103"/>
          <p:cNvSpPr txBox="1"/>
          <p:nvPr/>
        </p:nvSpPr>
        <p:spPr>
          <a:xfrm>
            <a:off x="560000" y="5248990"/>
            <a:ext cx="3506666" cy="1221009"/>
          </a:xfrm>
          <a:prstGeom prst="roundRect">
            <a:avLst>
              <a:gd name="adj" fmla="val 8000"/>
            </a:avLst>
          </a:prstGeom>
          <a:solidFill>
            <a:srgbClr val="F6F6F8"/>
          </a:solidFill>
          <a:ln w="12700">
            <a:solidFill>
              <a:srgbClr val="E4E4E8"/>
            </a:solidFill>
          </a:ln>
        </p:spPr>
        <p:txBody>
          <a:bodyPr wrap="square" lIns="150000" tIns="110000" rIns="150000" bIns="90000" rtlCol="0" anchor="t">
            <a:noAutofit/>
          </a:bodyPr>
          <a:lstStyle/>
          <a:p>
            <a:pPr algn="l">
              <a:spcBef>
                <a:spcPts val="0"/>
              </a:spcBef>
              <a:spcAft>
                <a:spcPts val="200"/>
              </a:spcAft>
              <a:buNone/>
            </a:pPr>
            <a:r>
              <a:rPr lang="en-IN" sz="1400" b="0" i="0" dirty="0">
                <a:solidFill>
                  <a:srgbClr val="1D1D1F"/>
                </a:solidFill>
                <a:latin typeface="Segoe UI Semibold"/>
                <a:cs typeface="Segoe UI Semibold"/>
              </a:rPr>
              <a:t>Private by default</a:t>
            </a:r>
          </a:p>
          <a:p>
            <a:pPr algn="l">
              <a:lnSpc>
                <a:spcPct val="105000"/>
              </a:lnSpc>
              <a:spcBef>
                <a:spcPts val="0"/>
              </a:spcBef>
              <a:spcAft>
                <a:spcPts val="0"/>
              </a:spcAft>
              <a:buNone/>
            </a:pPr>
            <a:r>
              <a:rPr lang="en-IN" sz="1200" b="0" i="0" dirty="0">
                <a:solidFill>
                  <a:srgbClr val="5F5F64"/>
                </a:solidFill>
                <a:latin typeface="Segoe UI"/>
                <a:cs typeface="Segoe UI"/>
              </a:rPr>
              <a:t>Runs fully on your laptop. Audio is never stored and nobody else on the call is notified.</a:t>
            </a:r>
          </a:p>
        </p:txBody>
      </p:sp>
      <p:sp>
        <p:nvSpPr>
          <p:cNvPr id="104" name="Sync 104"/>
          <p:cNvSpPr txBox="1"/>
          <p:nvPr/>
        </p:nvSpPr>
        <p:spPr>
          <a:xfrm>
            <a:off x="4346666" y="5248990"/>
            <a:ext cx="3506666" cy="1221009"/>
          </a:xfrm>
          <a:prstGeom prst="roundRect">
            <a:avLst>
              <a:gd name="adj" fmla="val 8000"/>
            </a:avLst>
          </a:prstGeom>
          <a:solidFill>
            <a:srgbClr val="F6F6F8"/>
          </a:solidFill>
          <a:ln w="12700">
            <a:solidFill>
              <a:srgbClr val="E4E4E8"/>
            </a:solidFill>
          </a:ln>
        </p:spPr>
        <p:txBody>
          <a:bodyPr wrap="square" lIns="150000" tIns="110000" rIns="150000" bIns="90000" rtlCol="0" anchor="t">
            <a:noAutofit/>
          </a:bodyPr>
          <a:lstStyle/>
          <a:p>
            <a:pPr algn="l">
              <a:spcBef>
                <a:spcPts val="0"/>
              </a:spcBef>
              <a:spcAft>
                <a:spcPts val="200"/>
              </a:spcAft>
              <a:buNone/>
            </a:pPr>
            <a:r>
              <a:rPr lang="en-IN" sz="1400" b="0" i="0" dirty="0">
                <a:solidFill>
                  <a:srgbClr val="1D1D1F"/>
                </a:solidFill>
                <a:latin typeface="Segoe UI Semibold"/>
                <a:cs typeface="Segoe UI Semibold"/>
              </a:rPr>
              <a:t>You stay in control</a:t>
            </a:r>
          </a:p>
          <a:p>
            <a:pPr algn="l">
              <a:lnSpc>
                <a:spcPct val="105000"/>
              </a:lnSpc>
              <a:spcBef>
                <a:spcPts val="0"/>
              </a:spcBef>
              <a:spcAft>
                <a:spcPts val="0"/>
              </a:spcAft>
              <a:buNone/>
            </a:pPr>
            <a:r>
              <a:rPr lang="en-IN" sz="1200" b="0" i="0" dirty="0">
                <a:solidFill>
                  <a:srgbClr val="5F5F64"/>
                </a:solidFill>
                <a:latin typeface="Segoe UI"/>
                <a:cs typeface="Segoe UI"/>
              </a:rPr>
              <a:t>Skip any call, choose the project, and confirm every update before it's saved.</a:t>
            </a:r>
          </a:p>
        </p:txBody>
      </p:sp>
      <p:sp>
        <p:nvSpPr>
          <p:cNvPr id="105" name="Sync 105"/>
          <p:cNvSpPr txBox="1"/>
          <p:nvPr/>
        </p:nvSpPr>
        <p:spPr>
          <a:xfrm>
            <a:off x="8133333" y="5248990"/>
            <a:ext cx="3506666" cy="1221009"/>
          </a:xfrm>
          <a:prstGeom prst="roundRect">
            <a:avLst>
              <a:gd name="adj" fmla="val 8000"/>
            </a:avLst>
          </a:prstGeom>
          <a:solidFill>
            <a:srgbClr val="F6F6F8"/>
          </a:solidFill>
          <a:ln w="12700">
            <a:solidFill>
              <a:srgbClr val="E4E4E8"/>
            </a:solidFill>
          </a:ln>
        </p:spPr>
        <p:txBody>
          <a:bodyPr wrap="square" lIns="150000" tIns="110000" rIns="150000" bIns="90000" rtlCol="0" anchor="t">
            <a:noAutofit/>
          </a:bodyPr>
          <a:lstStyle/>
          <a:p>
            <a:pPr algn="l">
              <a:spcBef>
                <a:spcPts val="0"/>
              </a:spcBef>
              <a:spcAft>
                <a:spcPts val="200"/>
              </a:spcAft>
              <a:buNone/>
            </a:pPr>
            <a:r>
              <a:rPr lang="en-IN" sz="1400" b="0" i="0" dirty="0">
                <a:solidFill>
                  <a:srgbClr val="1D1D1F"/>
                </a:solidFill>
                <a:latin typeface="Segoe UI Semibold"/>
                <a:cs typeface="Segoe UI Semibold"/>
              </a:rPr>
              <a:t>Useful from the first call</a:t>
            </a:r>
          </a:p>
          <a:p>
            <a:pPr algn="l">
              <a:lnSpc>
                <a:spcPct val="105000"/>
              </a:lnSpc>
              <a:spcBef>
                <a:spcPts val="0"/>
              </a:spcBef>
              <a:spcAft>
                <a:spcPts val="0"/>
              </a:spcAft>
              <a:buNone/>
            </a:pPr>
            <a:r>
              <a:rPr lang="en-IN" sz="1200" b="0" i="0" dirty="0">
                <a:solidFill>
                  <a:srgbClr val="5F5F64"/>
                </a:solidFill>
                <a:latin typeface="Segoe UI"/>
                <a:cs typeface="Segoe UI"/>
              </a:rPr>
              <a:t>No setup or training needed. Each conversation makes the next one sharper.</a:t>
            </a:r>
          </a:p>
        </p:txBody>
      </p:sp>
    </p:spTree>
    <p:extLst>
      <p:ext uri="{BB962C8B-B14F-4D97-AF65-F5344CB8AC3E}">
        <p14:creationId xmlns:p14="http://schemas.microsoft.com/office/powerpoint/2010/main" val="2829264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3B4B9-78DF-CA30-FEC5-1D78DBA3D3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9D79B4C-73E4-7F94-903E-636B9E41E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7D4DD60A-89C2-0268-4D2A-142037080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99269F55-A8D0-AF52-4D37-C44FD377510C}"/>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effectLst/>
                <a:latin typeface="Clash Display" pitchFamily="50" charset="0"/>
              </a:rPr>
              <a:t>Technical Architecture and Tech Stack</a:t>
            </a:r>
            <a:endParaRPr lang="en-IN" sz="2800" b="1" dirty="0">
              <a:solidFill>
                <a:schemeClr val="bg1"/>
              </a:solidFill>
              <a:latin typeface="Clash Display" pitchFamily="50" charset="0"/>
            </a:endParaRPr>
          </a:p>
        </p:txBody>
      </p:sp>
      <p:sp>
        <p:nvSpPr>
          <p:cNvPr id="101" name="Sync 101"/>
          <p:cNvSpPr txBox="1"/>
          <p:nvPr/>
        </p:nvSpPr>
        <p:spPr>
          <a:xfrm>
            <a:off x="560000" y="1060000"/>
            <a:ext cx="11080000" cy="480000"/>
          </a:xfrm>
          <a:prstGeom prst="rect">
            <a:avLst/>
          </a:prstGeom>
          <a:noFill/>
          <a:ln>
            <a:noFill/>
          </a:ln>
        </p:spPr>
        <p:txBody>
          <a:bodyPr wrap="square" lIns="0" tIns="0" rIns="0" bIns="0" rtlCol="0" anchor="t">
            <a:noAutofit/>
          </a:bodyPr>
          <a:lstStyle/>
          <a:p>
            <a:pPr algn="l">
              <a:spcBef>
                <a:spcPts val="0"/>
              </a:spcBef>
              <a:spcAft>
                <a:spcPts val="0"/>
              </a:spcAft>
              <a:buNone/>
            </a:pPr>
            <a:r>
              <a:rPr lang="en-IN" sz="1800" b="0" i="0" dirty="0">
                <a:solidFill>
                  <a:srgbClr val="1D1D1F"/>
                </a:solidFill>
                <a:latin typeface="Segoe UI Semibold"/>
                <a:cs typeface="Segoe UI Semibold"/>
              </a:rPr>
              <a:t>Everything runs on one ordinary laptop: no cloud, no GPU, no subscription.</a:t>
            </a:r>
          </a:p>
        </p:txBody>
      </p:sp>
      <p:pic>
        <p:nvPicPr>
          <p:cNvPr id="102" name="Sync image 102"/>
          <p:cNvPicPr>
            <a:picLocks noChangeAspect="1"/>
          </p:cNvPicPr>
          <p:nvPr/>
        </p:nvPicPr>
        <p:blipFill>
          <a:blip r:embed="rId4"/>
          <a:stretch>
            <a:fillRect/>
          </a:stretch>
        </p:blipFill>
        <p:spPr>
          <a:xfrm>
            <a:off x="560000" y="1700000"/>
            <a:ext cx="7000000" cy="2964776"/>
          </a:xfrm>
          <a:prstGeom prst="rect">
            <a:avLst/>
          </a:prstGeom>
        </p:spPr>
      </p:pic>
      <p:sp>
        <p:nvSpPr>
          <p:cNvPr id="103" name="Sync 103"/>
          <p:cNvSpPr txBox="1"/>
          <p:nvPr/>
        </p:nvSpPr>
        <p:spPr>
          <a:xfrm>
            <a:off x="560000" y="5014776"/>
            <a:ext cx="7000000" cy="1455223"/>
          </a:xfrm>
          <a:prstGeom prst="roundRect">
            <a:avLst>
              <a:gd name="adj" fmla="val 8000"/>
            </a:avLst>
          </a:prstGeom>
          <a:solidFill>
            <a:srgbClr val="F6F6F8"/>
          </a:solidFill>
          <a:ln w="12700">
            <a:solidFill>
              <a:srgbClr val="E4E4E8"/>
            </a:solidFill>
          </a:ln>
        </p:spPr>
        <p:txBody>
          <a:bodyPr wrap="square" lIns="200000" tIns="150000" rIns="200000" bIns="120000" rtlCol="0" anchor="t">
            <a:noAutofit/>
          </a:bodyPr>
          <a:lstStyle/>
          <a:p>
            <a:pPr algn="l">
              <a:spcBef>
                <a:spcPts val="0"/>
              </a:spcBef>
              <a:spcAft>
                <a:spcPts val="300"/>
              </a:spcAft>
              <a:buNone/>
            </a:pPr>
            <a:r>
              <a:rPr lang="en-IN" sz="1450" b="0" i="0" dirty="0">
                <a:solidFill>
                  <a:srgbClr val="1D1D1F"/>
                </a:solidFill>
                <a:latin typeface="Segoe UI Semibold"/>
                <a:cs typeface="Segoe UI Semibold"/>
              </a:rPr>
              <a:t>How a nudge happens</a:t>
            </a:r>
          </a:p>
          <a:p>
            <a:pPr algn="l">
              <a:lnSpc>
                <a:spcPct val="115000"/>
              </a:lnSpc>
              <a:spcBef>
                <a:spcPts val="0"/>
              </a:spcBef>
              <a:spcAft>
                <a:spcPts val="0"/>
              </a:spcAft>
              <a:buNone/>
            </a:pPr>
            <a:r>
              <a:rPr lang="en-IN" sz="1350" b="0" i="0" dirty="0">
                <a:solidFill>
                  <a:srgbClr val="5F5F64"/>
                </a:solidFill>
                <a:latin typeface="Segoe UI"/>
                <a:cs typeface="Segoe UI"/>
              </a:rPr>
              <a:t>speech becomes text as people talk → instant checks against the project's memory → a small local model weighs the subtle cases → one nudge appears at a natural pause.</a:t>
            </a:r>
          </a:p>
        </p:txBody>
      </p:sp>
      <p:sp>
        <p:nvSpPr>
          <p:cNvPr id="104" name="Sync 104"/>
          <p:cNvSpPr txBox="1"/>
          <p:nvPr/>
        </p:nvSpPr>
        <p:spPr>
          <a:xfrm>
            <a:off x="7890000" y="1700000"/>
            <a:ext cx="3750000" cy="4770000"/>
          </a:xfrm>
          <a:prstGeom prst="roundRect">
            <a:avLst>
              <a:gd name="adj" fmla="val 4000"/>
            </a:avLst>
          </a:prstGeom>
          <a:solidFill>
            <a:srgbClr val="F6F6F8"/>
          </a:solidFill>
          <a:ln w="12700">
            <a:solidFill>
              <a:srgbClr val="E4E4E8"/>
            </a:solidFill>
          </a:ln>
        </p:spPr>
        <p:txBody>
          <a:bodyPr wrap="square" lIns="200000" tIns="180000" rIns="200000" bIns="140000" rtlCol="0" anchor="t">
            <a:noAutofit/>
          </a:bodyPr>
          <a:lstStyle/>
          <a:p>
            <a:pPr algn="l">
              <a:spcBef>
                <a:spcPts val="0"/>
              </a:spcBef>
              <a:spcAft>
                <a:spcPts val="500"/>
              </a:spcAft>
              <a:buNone/>
            </a:pPr>
            <a:r>
              <a:rPr lang="en-IN" sz="1700" b="0" i="0" dirty="0">
                <a:solidFill>
                  <a:srgbClr val="1D1D1F"/>
                </a:solidFill>
                <a:latin typeface="Segoe UI Semibold"/>
                <a:cs typeface="Segoe UI Semibold"/>
              </a:rPr>
              <a:t>Main tech stack</a:t>
            </a:r>
          </a:p>
          <a:p>
            <a:pPr algn="l">
              <a:spcBef>
                <a:spcPts val="0"/>
              </a:spcBef>
              <a:spcAft>
                <a:spcPts val="150"/>
              </a:spcAft>
              <a:buNone/>
            </a:pPr>
            <a:r>
              <a:rPr lang="en-IN" sz="1500" b="0" i="0" dirty="0">
                <a:solidFill>
                  <a:srgbClr val="D4070F"/>
                </a:solidFill>
                <a:latin typeface="Segoe UI Semibold"/>
                <a:cs typeface="Segoe UI Semibold"/>
              </a:rPr>
              <a:t>Python + FastAPI</a:t>
            </a:r>
          </a:p>
          <a:p>
            <a:pPr algn="l">
              <a:spcBef>
                <a:spcPts val="0"/>
              </a:spcBef>
              <a:spcAft>
                <a:spcPts val="1100"/>
              </a:spcAft>
              <a:buNone/>
            </a:pPr>
            <a:r>
              <a:rPr lang="en-IN" sz="1300" b="0" i="0" dirty="0">
                <a:solidFill>
                  <a:srgbClr val="5F5F64"/>
                </a:solidFill>
                <a:latin typeface="Segoe UI"/>
                <a:cs typeface="Segoe UI"/>
              </a:rPr>
              <a:t>The core service and its live connections</a:t>
            </a:r>
          </a:p>
          <a:p>
            <a:pPr algn="l">
              <a:spcBef>
                <a:spcPts val="0"/>
              </a:spcBef>
              <a:spcAft>
                <a:spcPts val="150"/>
              </a:spcAft>
              <a:buNone/>
            </a:pPr>
            <a:r>
              <a:rPr lang="en-IN" sz="1500" b="0" i="0" dirty="0">
                <a:solidFill>
                  <a:srgbClr val="D4070F"/>
                </a:solidFill>
                <a:latin typeface="Segoe UI Semibold"/>
                <a:cs typeface="Segoe UI Semibold"/>
              </a:rPr>
              <a:t>Ollama with open AI models</a:t>
            </a:r>
          </a:p>
          <a:p>
            <a:pPr algn="l">
              <a:spcBef>
                <a:spcPts val="0"/>
              </a:spcBef>
              <a:spcAft>
                <a:spcPts val="1100"/>
              </a:spcAft>
              <a:buNone/>
            </a:pPr>
            <a:r>
              <a:rPr lang="en-IN" sz="1300" b="0" i="0" dirty="0">
                <a:solidFill>
                  <a:srgbClr val="5F5F64"/>
                </a:solidFill>
                <a:latin typeface="Segoe UI"/>
                <a:cs typeface="Segoe UI"/>
              </a:rPr>
              <a:t>Granite 4.1 (3B) during calls, Qwen3 (4B) after them</a:t>
            </a:r>
          </a:p>
          <a:p>
            <a:pPr algn="l">
              <a:spcBef>
                <a:spcPts val="0"/>
              </a:spcBef>
              <a:spcAft>
                <a:spcPts val="150"/>
              </a:spcAft>
              <a:buNone/>
            </a:pPr>
            <a:r>
              <a:rPr lang="en-IN" sz="1500" b="0" i="0" dirty="0">
                <a:solidFill>
                  <a:srgbClr val="D4070F"/>
                </a:solidFill>
                <a:latin typeface="Segoe UI Semibold"/>
                <a:cs typeface="Segoe UI Semibold"/>
              </a:rPr>
              <a:t>NVIDIA Parakeet</a:t>
            </a:r>
          </a:p>
          <a:p>
            <a:pPr algn="l">
              <a:spcBef>
                <a:spcPts val="0"/>
              </a:spcBef>
              <a:spcAft>
                <a:spcPts val="1100"/>
              </a:spcAft>
              <a:buNone/>
            </a:pPr>
            <a:r>
              <a:rPr lang="en-IN" sz="1300" b="0" i="0" dirty="0">
                <a:solidFill>
                  <a:srgbClr val="5F5F64"/>
                </a:solidFill>
                <a:latin typeface="Segoe UI"/>
                <a:cs typeface="Segoe UI"/>
              </a:rPr>
              <a:t>On-device speech recognition</a:t>
            </a:r>
          </a:p>
          <a:p>
            <a:pPr algn="l">
              <a:spcBef>
                <a:spcPts val="0"/>
              </a:spcBef>
              <a:spcAft>
                <a:spcPts val="150"/>
              </a:spcAft>
              <a:buNone/>
            </a:pPr>
            <a:r>
              <a:rPr lang="en-IN" sz="1500" b="0" i="0" dirty="0">
                <a:solidFill>
                  <a:srgbClr val="D4070F"/>
                </a:solidFill>
                <a:latin typeface="Segoe UI Semibold"/>
                <a:cs typeface="Segoe UI Semibold"/>
              </a:rPr>
              <a:t>SQLite + embeddings</a:t>
            </a:r>
          </a:p>
          <a:p>
            <a:pPr algn="l">
              <a:spcBef>
                <a:spcPts val="0"/>
              </a:spcBef>
              <a:spcAft>
                <a:spcPts val="1100"/>
              </a:spcAft>
              <a:buNone/>
            </a:pPr>
            <a:r>
              <a:rPr lang="en-IN" sz="1300" b="0" i="0" dirty="0">
                <a:solidFill>
                  <a:srgbClr val="5F5F64"/>
                </a:solidFill>
                <a:latin typeface="Segoe UI"/>
                <a:cs typeface="Segoe UI"/>
              </a:rPr>
              <a:t>Project memory and smart search</a:t>
            </a:r>
          </a:p>
          <a:p>
            <a:pPr algn="l">
              <a:spcBef>
                <a:spcPts val="0"/>
              </a:spcBef>
              <a:spcAft>
                <a:spcPts val="150"/>
              </a:spcAft>
              <a:buNone/>
            </a:pPr>
            <a:r>
              <a:rPr lang="en-IN" sz="1500" b="0" i="0" dirty="0">
                <a:solidFill>
                  <a:srgbClr val="D4070F"/>
                </a:solidFill>
                <a:latin typeface="Segoe UI Semibold"/>
                <a:cs typeface="Segoe UI Semibold"/>
              </a:rPr>
              <a:t>HTML · CSS · JavaScript</a:t>
            </a:r>
          </a:p>
          <a:p>
            <a:pPr algn="l">
              <a:spcBef>
                <a:spcPts val="0"/>
              </a:spcBef>
              <a:spcAft>
                <a:spcPts val="1100"/>
              </a:spcAft>
              <a:buNone/>
            </a:pPr>
            <a:r>
              <a:rPr lang="en-IN" sz="1300" b="0" i="0" dirty="0">
                <a:solidFill>
                  <a:srgbClr val="5F5F64"/>
                </a:solidFill>
                <a:latin typeface="Segoe UI"/>
                <a:cs typeface="Segoe UI"/>
              </a:rPr>
              <a:t>The web app, plus a light on-screen nudge strip</a:t>
            </a:r>
          </a:p>
          <a:p>
            <a:pPr algn="l">
              <a:spcBef>
                <a:spcPts val="0"/>
              </a:spcBef>
              <a:spcAft>
                <a:spcPts val="0"/>
              </a:spcAft>
              <a:buNone/>
            </a:pPr>
            <a:r>
              <a:rPr lang="en-IN" sz="1250" b="0" i="0" dirty="0">
                <a:solidFill>
                  <a:srgbClr val="1D1D1F"/>
                </a:solidFill>
                <a:latin typeface="Segoe UI Semibold"/>
                <a:cs typeface="Segoe UI Semibold"/>
              </a:rPr>
              <a:t>100% free and open source</a:t>
            </a:r>
          </a:p>
        </p:txBody>
      </p:sp>
    </p:spTree>
    <p:extLst>
      <p:ext uri="{BB962C8B-B14F-4D97-AF65-F5344CB8AC3E}">
        <p14:creationId xmlns:p14="http://schemas.microsoft.com/office/powerpoint/2010/main" val="1747258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9B737-8178-B83E-95E2-43577ECAA3D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114070D-E90F-03EA-C68D-83D25723D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6409A7DD-E682-E93E-4243-4DC3E2717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F951BB3C-E90B-A26C-3140-E8CE949EE2D5}"/>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latin typeface="Clash Display" pitchFamily="50" charset="0"/>
              </a:rPr>
              <a:t>User Experience and Usability</a:t>
            </a:r>
          </a:p>
        </p:txBody>
      </p:sp>
      <p:sp>
        <p:nvSpPr>
          <p:cNvPr id="101" name="Sync 101"/>
          <p:cNvSpPr txBox="1"/>
          <p:nvPr/>
        </p:nvSpPr>
        <p:spPr>
          <a:xfrm>
            <a:off x="560000" y="1060000"/>
            <a:ext cx="11080000" cy="480000"/>
          </a:xfrm>
          <a:prstGeom prst="rect">
            <a:avLst/>
          </a:prstGeom>
          <a:noFill/>
          <a:ln>
            <a:noFill/>
          </a:ln>
        </p:spPr>
        <p:txBody>
          <a:bodyPr wrap="square" lIns="0" tIns="0" rIns="0" bIns="0" rtlCol="0" anchor="t">
            <a:noAutofit/>
          </a:bodyPr>
          <a:lstStyle/>
          <a:p>
            <a:pPr algn="l">
              <a:spcBef>
                <a:spcPts val="0"/>
              </a:spcBef>
              <a:spcAft>
                <a:spcPts val="0"/>
              </a:spcAft>
              <a:buNone/>
            </a:pPr>
            <a:r>
              <a:rPr lang="en-IN" sz="1800" b="0" i="0" dirty="0">
                <a:solidFill>
                  <a:srgbClr val="1D1D1F"/>
                </a:solidFill>
                <a:latin typeface="Segoe UI Semibold"/>
                <a:cs typeface="Segoe UI Semibold"/>
              </a:rPr>
              <a:t>Designed to stay out of the way: calm, private and always under your control.</a:t>
            </a:r>
          </a:p>
        </p:txBody>
      </p:sp>
      <p:pic>
        <p:nvPicPr>
          <p:cNvPr id="102" name="Sync image 102"/>
          <p:cNvPicPr>
            <a:picLocks noChangeAspect="1"/>
          </p:cNvPicPr>
          <p:nvPr/>
        </p:nvPicPr>
        <p:blipFill>
          <a:blip r:embed="rId4"/>
          <a:stretch>
            <a:fillRect/>
          </a:stretch>
        </p:blipFill>
        <p:spPr>
          <a:xfrm>
            <a:off x="1100000" y="1660000"/>
            <a:ext cx="4800000" cy="3000000"/>
          </a:xfrm>
          <a:prstGeom prst="rect">
            <a:avLst/>
          </a:prstGeom>
          <a:ln w="9525">
            <a:solidFill>
              <a:srgbClr val="E4E4E8"/>
            </a:solidFill>
          </a:ln>
          <a:effectLst>
            <a:outerShdw blurRad="88900" dist="19050" dir="5400000" algn="t" rotWithShape="0">
              <a:srgbClr val="000000">
                <a:alpha val="16000"/>
              </a:srgbClr>
            </a:outerShdw>
          </a:effectLst>
        </p:spPr>
      </p:pic>
      <p:pic>
        <p:nvPicPr>
          <p:cNvPr id="103" name="Sync image 103"/>
          <p:cNvPicPr>
            <a:picLocks noChangeAspect="1"/>
          </p:cNvPicPr>
          <p:nvPr/>
        </p:nvPicPr>
        <p:blipFill>
          <a:blip r:embed="rId5"/>
          <a:stretch>
            <a:fillRect/>
          </a:stretch>
        </p:blipFill>
        <p:spPr>
          <a:xfrm>
            <a:off x="6300000" y="1660000"/>
            <a:ext cx="4800000" cy="3000000"/>
          </a:xfrm>
          <a:prstGeom prst="rect">
            <a:avLst/>
          </a:prstGeom>
          <a:ln w="9525">
            <a:solidFill>
              <a:srgbClr val="E4E4E8"/>
            </a:solidFill>
          </a:ln>
          <a:effectLst>
            <a:outerShdw blurRad="88900" dist="19050" dir="5400000" algn="t" rotWithShape="0">
              <a:srgbClr val="000000">
                <a:alpha val="16000"/>
              </a:srgbClr>
            </a:outerShdw>
          </a:effectLst>
        </p:spPr>
      </p:pic>
      <p:sp>
        <p:nvSpPr>
          <p:cNvPr id="104" name="Sync 104"/>
          <p:cNvSpPr txBox="1"/>
          <p:nvPr/>
        </p:nvSpPr>
        <p:spPr>
          <a:xfrm>
            <a:off x="1100000" y="4700000"/>
            <a:ext cx="4800000" cy="300000"/>
          </a:xfrm>
          <a:prstGeom prst="rect">
            <a:avLst/>
          </a:prstGeom>
          <a:noFill/>
          <a:ln>
            <a:noFill/>
          </a:ln>
        </p:spPr>
        <p:txBody>
          <a:bodyPr wrap="square" lIns="0" tIns="0" rIns="0" bIns="0" rtlCol="0" anchor="t">
            <a:noAutofit/>
          </a:bodyPr>
          <a:lstStyle/>
          <a:p>
            <a:pPr algn="ctr">
              <a:spcBef>
                <a:spcPts val="0"/>
              </a:spcBef>
              <a:spcAft>
                <a:spcPts val="0"/>
              </a:spcAft>
              <a:buNone/>
            </a:pPr>
            <a:r>
              <a:rPr lang="en-IN" sz="1100" b="0" i="0" dirty="0">
                <a:solidFill>
                  <a:srgbClr val="5F5F64"/>
                </a:solidFill>
                <a:latin typeface="Segoe UI"/>
                <a:cs typeface="Segoe UI"/>
              </a:rPr>
              <a:t>Workspace: projects, open commitments and recent calls at a glance</a:t>
            </a:r>
          </a:p>
        </p:txBody>
      </p:sp>
      <p:sp>
        <p:nvSpPr>
          <p:cNvPr id="105" name="Sync 105"/>
          <p:cNvSpPr txBox="1"/>
          <p:nvPr/>
        </p:nvSpPr>
        <p:spPr>
          <a:xfrm>
            <a:off x="6300000" y="4700000"/>
            <a:ext cx="4800000" cy="300000"/>
          </a:xfrm>
          <a:prstGeom prst="rect">
            <a:avLst/>
          </a:prstGeom>
          <a:noFill/>
          <a:ln>
            <a:noFill/>
          </a:ln>
        </p:spPr>
        <p:txBody>
          <a:bodyPr wrap="square" lIns="0" tIns="0" rIns="0" bIns="0" rtlCol="0" anchor="t">
            <a:noAutofit/>
          </a:bodyPr>
          <a:lstStyle/>
          <a:p>
            <a:pPr algn="ctr">
              <a:spcBef>
                <a:spcPts val="0"/>
              </a:spcBef>
              <a:spcAft>
                <a:spcPts val="0"/>
              </a:spcAft>
              <a:buNone/>
            </a:pPr>
            <a:r>
              <a:rPr lang="en-IN" sz="1100" b="0" i="0" dirty="0">
                <a:solidFill>
                  <a:srgbClr val="5F5F64"/>
                </a:solidFill>
                <a:latin typeface="Segoe UI"/>
                <a:cs typeface="Segoe UI"/>
              </a:rPr>
              <a:t>After the call: review the recap, confirm what goes into the project</a:t>
            </a:r>
          </a:p>
        </p:txBody>
      </p:sp>
      <p:sp>
        <p:nvSpPr>
          <p:cNvPr id="106" name="Sync 106"/>
          <p:cNvSpPr txBox="1"/>
          <p:nvPr/>
        </p:nvSpPr>
        <p:spPr>
          <a:xfrm>
            <a:off x="560000" y="5080000"/>
            <a:ext cx="3560000" cy="635000"/>
          </a:xfrm>
          <a:prstGeom prst="roundRect">
            <a:avLst>
              <a:gd name="adj" fmla="val 12000"/>
            </a:avLst>
          </a:prstGeom>
          <a:solidFill>
            <a:srgbClr val="F6F6F8"/>
          </a:solidFill>
          <a:ln w="12700">
            <a:solidFill>
              <a:srgbClr val="E4E4E8"/>
            </a:solidFill>
          </a:ln>
        </p:spPr>
        <p:txBody>
          <a:bodyPr wrap="square" lIns="140000" tIns="70000" rIns="140000" bIns="60000" rtlCol="0" anchor="ctr">
            <a:noAutofit/>
          </a:bodyPr>
          <a:lstStyle/>
          <a:p>
            <a:pPr algn="l">
              <a:lnSpc>
                <a:spcPct val="105000"/>
              </a:lnSpc>
              <a:spcBef>
                <a:spcPts val="0"/>
              </a:spcBef>
              <a:spcAft>
                <a:spcPts val="0"/>
              </a:spcAft>
              <a:buNone/>
            </a:pPr>
            <a:r>
              <a:rPr lang="en-IN" sz="1300" b="0" i="0" dirty="0">
                <a:solidFill>
                  <a:srgbClr val="1D1D1F"/>
                </a:solidFill>
                <a:latin typeface="Segoe UI Semibold"/>
                <a:cs typeface="Segoe UI Semibold"/>
              </a:rPr>
              <a:t>One nudge at a time</a:t>
            </a:r>
            <a:r>
              <a:rPr lang="en-IN" sz="1150" b="0" i="0" dirty="0">
                <a:solidFill>
                  <a:srgbClr val="5F5F64"/>
                </a:solidFill>
                <a:latin typeface="Segoe UI"/>
                <a:cs typeface="Segoe UI"/>
              </a:rPr>
              <a:t>   Short, on screen, at a natural pause. It fades on its own.</a:t>
            </a:r>
          </a:p>
        </p:txBody>
      </p:sp>
      <p:sp>
        <p:nvSpPr>
          <p:cNvPr id="107" name="Sync 107"/>
          <p:cNvSpPr txBox="1"/>
          <p:nvPr/>
        </p:nvSpPr>
        <p:spPr>
          <a:xfrm>
            <a:off x="4320000" y="5080000"/>
            <a:ext cx="3560000" cy="635000"/>
          </a:xfrm>
          <a:prstGeom prst="roundRect">
            <a:avLst>
              <a:gd name="adj" fmla="val 12000"/>
            </a:avLst>
          </a:prstGeom>
          <a:solidFill>
            <a:srgbClr val="F6F6F8"/>
          </a:solidFill>
          <a:ln w="12700">
            <a:solidFill>
              <a:srgbClr val="E4E4E8"/>
            </a:solidFill>
          </a:ln>
        </p:spPr>
        <p:txBody>
          <a:bodyPr wrap="square" lIns="140000" tIns="70000" rIns="140000" bIns="60000" rtlCol="0" anchor="ctr">
            <a:noAutofit/>
          </a:bodyPr>
          <a:lstStyle/>
          <a:p>
            <a:pPr algn="l">
              <a:lnSpc>
                <a:spcPct val="105000"/>
              </a:lnSpc>
              <a:spcBef>
                <a:spcPts val="0"/>
              </a:spcBef>
              <a:spcAft>
                <a:spcPts val="0"/>
              </a:spcAft>
              <a:buNone/>
            </a:pPr>
            <a:r>
              <a:rPr lang="en-IN" sz="1300" b="0" i="0" dirty="0">
                <a:solidFill>
                  <a:srgbClr val="1D1D1F"/>
                </a:solidFill>
                <a:latin typeface="Segoe UI Semibold"/>
                <a:cs typeface="Segoe UI Semibold"/>
              </a:rPr>
              <a:t>Only you see it</a:t>
            </a:r>
            <a:r>
              <a:rPr lang="en-IN" sz="1150" b="0" i="0" dirty="0">
                <a:solidFill>
                  <a:srgbClr val="5F5F64"/>
                </a:solidFill>
                <a:latin typeface="Segoe UI"/>
                <a:cs typeface="Segoe UI"/>
              </a:rPr>
              <a:t>   No bot joins the call. Nothing is said out loud.</a:t>
            </a:r>
          </a:p>
        </p:txBody>
      </p:sp>
      <p:sp>
        <p:nvSpPr>
          <p:cNvPr id="108" name="Sync 108"/>
          <p:cNvSpPr txBox="1"/>
          <p:nvPr/>
        </p:nvSpPr>
        <p:spPr>
          <a:xfrm>
            <a:off x="8080000" y="5080000"/>
            <a:ext cx="3560000" cy="635000"/>
          </a:xfrm>
          <a:prstGeom prst="roundRect">
            <a:avLst>
              <a:gd name="adj" fmla="val 12000"/>
            </a:avLst>
          </a:prstGeom>
          <a:solidFill>
            <a:srgbClr val="F6F6F8"/>
          </a:solidFill>
          <a:ln w="12700">
            <a:solidFill>
              <a:srgbClr val="E4E4E8"/>
            </a:solidFill>
          </a:ln>
        </p:spPr>
        <p:txBody>
          <a:bodyPr wrap="square" lIns="140000" tIns="70000" rIns="140000" bIns="60000" rtlCol="0" anchor="ctr">
            <a:noAutofit/>
          </a:bodyPr>
          <a:lstStyle/>
          <a:p>
            <a:pPr algn="l">
              <a:lnSpc>
                <a:spcPct val="105000"/>
              </a:lnSpc>
              <a:spcBef>
                <a:spcPts val="0"/>
              </a:spcBef>
              <a:spcAft>
                <a:spcPts val="0"/>
              </a:spcAft>
              <a:buNone/>
            </a:pPr>
            <a:r>
              <a:rPr lang="en-IN" sz="1300" b="0" i="0" dirty="0">
                <a:solidFill>
                  <a:srgbClr val="1D1D1F"/>
                </a:solidFill>
                <a:latin typeface="Segoe UI Semibold"/>
                <a:cs typeface="Segoe UI Semibold"/>
              </a:rPr>
              <a:t>You're in control</a:t>
            </a:r>
            <a:r>
              <a:rPr lang="en-IN" sz="1150" b="0" i="0" dirty="0">
                <a:solidFill>
                  <a:srgbClr val="5F5F64"/>
                </a:solidFill>
                <a:latin typeface="Segoe UI"/>
                <a:cs typeface="Segoe UI"/>
              </a:rPr>
              <a:t>   Auto, Ask or Off. Skip with Ctrl+Alt+S. Per-app rules.</a:t>
            </a:r>
          </a:p>
        </p:txBody>
      </p:sp>
      <p:sp>
        <p:nvSpPr>
          <p:cNvPr id="109" name="Sync 109"/>
          <p:cNvSpPr txBox="1"/>
          <p:nvPr/>
        </p:nvSpPr>
        <p:spPr>
          <a:xfrm>
            <a:off x="560000" y="5835000"/>
            <a:ext cx="3560000" cy="635000"/>
          </a:xfrm>
          <a:prstGeom prst="roundRect">
            <a:avLst>
              <a:gd name="adj" fmla="val 12000"/>
            </a:avLst>
          </a:prstGeom>
          <a:solidFill>
            <a:srgbClr val="F6F6F8"/>
          </a:solidFill>
          <a:ln w="12700">
            <a:solidFill>
              <a:srgbClr val="E4E4E8"/>
            </a:solidFill>
          </a:ln>
        </p:spPr>
        <p:txBody>
          <a:bodyPr wrap="square" lIns="140000" tIns="70000" rIns="140000" bIns="60000" rtlCol="0" anchor="ctr">
            <a:noAutofit/>
          </a:bodyPr>
          <a:lstStyle/>
          <a:p>
            <a:pPr algn="l">
              <a:lnSpc>
                <a:spcPct val="105000"/>
              </a:lnSpc>
              <a:spcBef>
                <a:spcPts val="0"/>
              </a:spcBef>
              <a:spcAft>
                <a:spcPts val="0"/>
              </a:spcAft>
              <a:buNone/>
            </a:pPr>
            <a:r>
              <a:rPr lang="en-IN" sz="1300" b="0" i="0" dirty="0">
                <a:solidFill>
                  <a:srgbClr val="1D1D1F"/>
                </a:solidFill>
                <a:latin typeface="Segoe UI Semibold"/>
                <a:cs typeface="Segoe UI Semibold"/>
              </a:rPr>
              <a:t>Every point has a source</a:t>
            </a:r>
            <a:r>
              <a:rPr lang="en-IN" sz="1150" b="0" i="0" dirty="0">
                <a:solidFill>
                  <a:srgbClr val="5F5F64"/>
                </a:solidFill>
                <a:latin typeface="Segoe UI"/>
                <a:cs typeface="Segoe UI"/>
              </a:rPr>
              <a:t>   Click any item to see exactly who said it and when.</a:t>
            </a:r>
          </a:p>
        </p:txBody>
      </p:sp>
      <p:sp>
        <p:nvSpPr>
          <p:cNvPr id="110" name="Sync 110"/>
          <p:cNvSpPr txBox="1"/>
          <p:nvPr/>
        </p:nvSpPr>
        <p:spPr>
          <a:xfrm>
            <a:off x="4320000" y="5835000"/>
            <a:ext cx="3560000" cy="635000"/>
          </a:xfrm>
          <a:prstGeom prst="roundRect">
            <a:avLst>
              <a:gd name="adj" fmla="val 12000"/>
            </a:avLst>
          </a:prstGeom>
          <a:solidFill>
            <a:srgbClr val="F6F6F8"/>
          </a:solidFill>
          <a:ln w="12700">
            <a:solidFill>
              <a:srgbClr val="E4E4E8"/>
            </a:solidFill>
          </a:ln>
        </p:spPr>
        <p:txBody>
          <a:bodyPr wrap="square" lIns="140000" tIns="70000" rIns="140000" bIns="60000" rtlCol="0" anchor="ctr">
            <a:noAutofit/>
          </a:bodyPr>
          <a:lstStyle/>
          <a:p>
            <a:pPr algn="l">
              <a:lnSpc>
                <a:spcPct val="105000"/>
              </a:lnSpc>
              <a:spcBef>
                <a:spcPts val="0"/>
              </a:spcBef>
              <a:spcAft>
                <a:spcPts val="0"/>
              </a:spcAft>
              <a:buNone/>
            </a:pPr>
            <a:r>
              <a:rPr lang="en-IN" sz="1300" b="0" i="0" dirty="0">
                <a:solidFill>
                  <a:srgbClr val="1D1D1F"/>
                </a:solidFill>
                <a:latin typeface="Segoe UI Semibold"/>
                <a:cs typeface="Segoe UI Semibold"/>
              </a:rPr>
              <a:t>Zero setup</a:t>
            </a:r>
            <a:r>
              <a:rPr lang="en-IN" sz="1150" b="0" i="0" dirty="0">
                <a:solidFill>
                  <a:srgbClr val="5F5F64"/>
                </a:solidFill>
                <a:latin typeface="Segoe UI"/>
                <a:cs typeface="Segoe UI"/>
              </a:rPr>
              <a:t>   Helpful from the first call. Projects build themselves.</a:t>
            </a:r>
          </a:p>
        </p:txBody>
      </p:sp>
      <p:sp>
        <p:nvSpPr>
          <p:cNvPr id="111" name="Sync 111"/>
          <p:cNvSpPr txBox="1"/>
          <p:nvPr/>
        </p:nvSpPr>
        <p:spPr>
          <a:xfrm>
            <a:off x="8080000" y="5835000"/>
            <a:ext cx="3560000" cy="635000"/>
          </a:xfrm>
          <a:prstGeom prst="roundRect">
            <a:avLst>
              <a:gd name="adj" fmla="val 12000"/>
            </a:avLst>
          </a:prstGeom>
          <a:solidFill>
            <a:srgbClr val="F6F6F8"/>
          </a:solidFill>
          <a:ln w="12700">
            <a:solidFill>
              <a:srgbClr val="E4E4E8"/>
            </a:solidFill>
          </a:ln>
        </p:spPr>
        <p:txBody>
          <a:bodyPr wrap="square" lIns="140000" tIns="70000" rIns="140000" bIns="60000" rtlCol="0" anchor="ctr">
            <a:noAutofit/>
          </a:bodyPr>
          <a:lstStyle/>
          <a:p>
            <a:pPr algn="l">
              <a:lnSpc>
                <a:spcPct val="105000"/>
              </a:lnSpc>
              <a:spcBef>
                <a:spcPts val="0"/>
              </a:spcBef>
              <a:spcAft>
                <a:spcPts val="0"/>
              </a:spcAft>
              <a:buNone/>
            </a:pPr>
            <a:r>
              <a:rPr lang="en-IN" sz="1300" b="0" i="0" dirty="0">
                <a:solidFill>
                  <a:srgbClr val="1D1D1F"/>
                </a:solidFill>
                <a:latin typeface="Segoe UI Semibold"/>
                <a:cs typeface="Segoe UI Semibold"/>
              </a:rPr>
              <a:t>Calm, simple design</a:t>
            </a:r>
            <a:r>
              <a:rPr lang="en-IN" sz="1150" b="0" i="0" dirty="0">
                <a:solidFill>
                  <a:srgbClr val="5F5F64"/>
                </a:solidFill>
                <a:latin typeface="Segoe UI"/>
                <a:cs typeface="Segoe UI"/>
              </a:rPr>
              <a:t>   A clean light theme that matches the on-screen nudges.</a:t>
            </a:r>
          </a:p>
        </p:txBody>
      </p:sp>
    </p:spTree>
    <p:extLst>
      <p:ext uri="{BB962C8B-B14F-4D97-AF65-F5344CB8AC3E}">
        <p14:creationId xmlns:p14="http://schemas.microsoft.com/office/powerpoint/2010/main" val="923935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B4B98-07B5-3EC8-9964-2239BC8507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E34ECF1-1CE8-81A3-5155-0A42B29B5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C8A2F706-DFDA-B862-40C6-D96385EEF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8559E74B-3C17-CE10-AF4F-6BDDCEBB98F3}"/>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latin typeface="Clash Display" pitchFamily="50" charset="0"/>
              </a:rPr>
              <a:t>Key Features and Implementation</a:t>
            </a:r>
          </a:p>
        </p:txBody>
      </p:sp>
      <p:sp>
        <p:nvSpPr>
          <p:cNvPr id="101" name="Sync 101"/>
          <p:cNvSpPr txBox="1"/>
          <p:nvPr/>
        </p:nvSpPr>
        <p:spPr>
          <a:xfrm>
            <a:off x="560000" y="1060000"/>
            <a:ext cx="11080000" cy="480000"/>
          </a:xfrm>
          <a:prstGeom prst="rect">
            <a:avLst/>
          </a:prstGeom>
          <a:noFill/>
          <a:ln>
            <a:noFill/>
          </a:ln>
        </p:spPr>
        <p:txBody>
          <a:bodyPr wrap="square" lIns="0" tIns="0" rIns="0" bIns="0" rtlCol="0" anchor="t">
            <a:noAutofit/>
          </a:bodyPr>
          <a:lstStyle/>
          <a:p>
            <a:pPr algn="l">
              <a:spcBef>
                <a:spcPts val="0"/>
              </a:spcBef>
              <a:spcAft>
                <a:spcPts val="0"/>
              </a:spcAft>
              <a:buNone/>
            </a:pPr>
            <a:r>
              <a:rPr lang="en-IN" sz="1800" b="0" i="0" dirty="0">
                <a:solidFill>
                  <a:srgbClr val="1D1D1F"/>
                </a:solidFill>
                <a:latin typeface="Segoe UI Semibold"/>
                <a:cs typeface="Segoe UI Semibold"/>
              </a:rPr>
              <a:t>What Sync does, and how it does it.</a:t>
            </a:r>
          </a:p>
        </p:txBody>
      </p:sp>
      <p:sp>
        <p:nvSpPr>
          <p:cNvPr id="102" name="Sync 102"/>
          <p:cNvSpPr txBox="1"/>
          <p:nvPr/>
        </p:nvSpPr>
        <p:spPr>
          <a:xfrm>
            <a:off x="560000" y="1680000"/>
            <a:ext cx="3546666" cy="2280000"/>
          </a:xfrm>
          <a:prstGeom prst="roundRect">
            <a:avLst>
              <a:gd name="adj" fmla="val 6000"/>
            </a:avLst>
          </a:prstGeom>
          <a:solidFill>
            <a:srgbClr val="F6F6F8"/>
          </a:solidFill>
          <a:ln w="12700">
            <a:solidFill>
              <a:srgbClr val="E4E4E8"/>
            </a:solidFill>
          </a:ln>
        </p:spPr>
        <p:txBody>
          <a:bodyPr wrap="square" lIns="220000" tIns="170000" rIns="200000" bIns="100000" rtlCol="0" anchor="t">
            <a:noAutofit/>
          </a:bodyPr>
          <a:lstStyle/>
          <a:p>
            <a:pPr algn="l">
              <a:spcBef>
                <a:spcPts val="0"/>
              </a:spcBef>
              <a:spcAft>
                <a:spcPts val="400"/>
              </a:spcAft>
              <a:buNone/>
            </a:pPr>
            <a:r>
              <a:rPr lang="en-IN" sz="1700" b="0" i="0" dirty="0">
                <a:solidFill>
                  <a:srgbClr val="1D1D1F"/>
                </a:solidFill>
                <a:latin typeface="Segoe UI Semibold"/>
                <a:cs typeface="Segoe UI Semibold"/>
              </a:rPr>
              <a:t>Auto-listen with an off switch</a:t>
            </a:r>
          </a:p>
          <a:p>
            <a:pPr algn="l">
              <a:lnSpc>
                <a:spcPct val="105000"/>
              </a:lnSpc>
              <a:spcBef>
                <a:spcPts val="0"/>
              </a:spcBef>
              <a:spcAft>
                <a:spcPts val="700"/>
              </a:spcAft>
              <a:buNone/>
            </a:pPr>
            <a:r>
              <a:rPr lang="en-IN" sz="1350" b="0" i="0" dirty="0">
                <a:solidFill>
                  <a:srgbClr val="1D1D1F"/>
                </a:solidFill>
                <a:latin typeface="Segoe UI"/>
                <a:cs typeface="Segoe UI"/>
              </a:rPr>
              <a:t>Notices a call the moment an app uses your microphone, then gives you 5 seconds to skip.</a:t>
            </a:r>
          </a:p>
          <a:p>
            <a:pPr algn="l">
              <a:lnSpc>
                <a:spcPct val="105000"/>
              </a:lnSpc>
              <a:spcBef>
                <a:spcPts val="0"/>
              </a:spcBef>
              <a:spcAft>
                <a:spcPts val="0"/>
              </a:spcAft>
              <a:buNone/>
            </a:pPr>
            <a:r>
              <a:rPr lang="en-IN" sz="1200" b="0" i="1" dirty="0">
                <a:solidFill>
                  <a:srgbClr val="5F5F64"/>
                </a:solidFill>
                <a:latin typeface="Segoe UI"/>
                <a:cs typeface="Segoe UI"/>
              </a:rPr>
              <a:t>How: watches which app holds the mic (never the audio), with per-app and per-contact rules.</a:t>
            </a:r>
          </a:p>
        </p:txBody>
      </p:sp>
      <p:sp>
        <p:nvSpPr>
          <p:cNvPr id="103" name="Sync 103"/>
          <p:cNvSpPr txBox="1"/>
          <p:nvPr/>
        </p:nvSpPr>
        <p:spPr>
          <a:xfrm>
            <a:off x="560000" y="1680000"/>
            <a:ext cx="60000" cy="228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
        <p:nvSpPr>
          <p:cNvPr id="104" name="Sync 104"/>
          <p:cNvSpPr txBox="1"/>
          <p:nvPr/>
        </p:nvSpPr>
        <p:spPr>
          <a:xfrm>
            <a:off x="4326666" y="1680000"/>
            <a:ext cx="3546666" cy="2280000"/>
          </a:xfrm>
          <a:prstGeom prst="roundRect">
            <a:avLst>
              <a:gd name="adj" fmla="val 6000"/>
            </a:avLst>
          </a:prstGeom>
          <a:solidFill>
            <a:srgbClr val="F6F6F8"/>
          </a:solidFill>
          <a:ln w="12700">
            <a:solidFill>
              <a:srgbClr val="E4E4E8"/>
            </a:solidFill>
          </a:ln>
        </p:spPr>
        <p:txBody>
          <a:bodyPr wrap="square" lIns="220000" tIns="170000" rIns="200000" bIns="100000" rtlCol="0" anchor="t">
            <a:noAutofit/>
          </a:bodyPr>
          <a:lstStyle/>
          <a:p>
            <a:pPr algn="l">
              <a:spcBef>
                <a:spcPts val="0"/>
              </a:spcBef>
              <a:spcAft>
                <a:spcPts val="400"/>
              </a:spcAft>
              <a:buNone/>
            </a:pPr>
            <a:r>
              <a:rPr lang="en-IN" sz="1700" b="0" i="0" dirty="0">
                <a:solidFill>
                  <a:srgbClr val="1D1D1F"/>
                </a:solidFill>
                <a:latin typeface="Segoe UI Semibold"/>
                <a:cs typeface="Segoe UI Semibold"/>
              </a:rPr>
              <a:t>Live gap detection</a:t>
            </a:r>
          </a:p>
          <a:p>
            <a:pPr algn="l">
              <a:lnSpc>
                <a:spcPct val="105000"/>
              </a:lnSpc>
              <a:spcBef>
                <a:spcPts val="0"/>
              </a:spcBef>
              <a:spcAft>
                <a:spcPts val="700"/>
              </a:spcAft>
              <a:buNone/>
            </a:pPr>
            <a:r>
              <a:rPr lang="en-IN" sz="1350" b="0" i="0" dirty="0">
                <a:solidFill>
                  <a:srgbClr val="1D1D1F"/>
                </a:solidFill>
                <a:latin typeface="Segoe UI"/>
                <a:cs typeface="Segoe UI"/>
              </a:rPr>
              <a:t>Catches unanswered questions, vague dates, unconfirmed conditions, tasks with no owner and contradictions.</a:t>
            </a:r>
          </a:p>
          <a:p>
            <a:pPr algn="l">
              <a:lnSpc>
                <a:spcPct val="105000"/>
              </a:lnSpc>
              <a:spcBef>
                <a:spcPts val="0"/>
              </a:spcBef>
              <a:spcAft>
                <a:spcPts val="0"/>
              </a:spcAft>
              <a:buNone/>
            </a:pPr>
            <a:r>
              <a:rPr lang="en-IN" sz="1200" b="0" i="1" dirty="0">
                <a:solidFill>
                  <a:srgbClr val="5F5F64"/>
                </a:solidFill>
                <a:latin typeface="Segoe UI"/>
                <a:cs typeface="Segoe UI"/>
              </a:rPr>
              <a:t>How: 16 kinds of gaps, checked instantly by rules plus a small local AI model.</a:t>
            </a:r>
          </a:p>
        </p:txBody>
      </p:sp>
      <p:sp>
        <p:nvSpPr>
          <p:cNvPr id="105" name="Sync 105"/>
          <p:cNvSpPr txBox="1"/>
          <p:nvPr/>
        </p:nvSpPr>
        <p:spPr>
          <a:xfrm>
            <a:off x="4326666" y="1680000"/>
            <a:ext cx="60000" cy="228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
        <p:nvSpPr>
          <p:cNvPr id="106" name="Sync 106"/>
          <p:cNvSpPr txBox="1"/>
          <p:nvPr/>
        </p:nvSpPr>
        <p:spPr>
          <a:xfrm>
            <a:off x="8093333" y="1680000"/>
            <a:ext cx="3546666" cy="2280000"/>
          </a:xfrm>
          <a:prstGeom prst="roundRect">
            <a:avLst>
              <a:gd name="adj" fmla="val 6000"/>
            </a:avLst>
          </a:prstGeom>
          <a:solidFill>
            <a:srgbClr val="F6F6F8"/>
          </a:solidFill>
          <a:ln w="12700">
            <a:solidFill>
              <a:srgbClr val="E4E4E8"/>
            </a:solidFill>
          </a:ln>
        </p:spPr>
        <p:txBody>
          <a:bodyPr wrap="square" lIns="220000" tIns="170000" rIns="200000" bIns="100000" rtlCol="0" anchor="t">
            <a:noAutofit/>
          </a:bodyPr>
          <a:lstStyle/>
          <a:p>
            <a:pPr algn="l">
              <a:spcBef>
                <a:spcPts val="0"/>
              </a:spcBef>
              <a:spcAft>
                <a:spcPts val="400"/>
              </a:spcAft>
              <a:buNone/>
            </a:pPr>
            <a:r>
              <a:rPr lang="en-IN" sz="1700" b="0" i="0" dirty="0">
                <a:solidFill>
                  <a:srgbClr val="1D1D1F"/>
                </a:solidFill>
                <a:latin typeface="Segoe UI Semibold"/>
                <a:cs typeface="Segoe UI Semibold"/>
              </a:rPr>
              <a:t>Answers from your documents</a:t>
            </a:r>
          </a:p>
          <a:p>
            <a:pPr algn="l">
              <a:lnSpc>
                <a:spcPct val="105000"/>
              </a:lnSpc>
              <a:spcBef>
                <a:spcPts val="0"/>
              </a:spcBef>
              <a:spcAft>
                <a:spcPts val="700"/>
              </a:spcAft>
              <a:buNone/>
            </a:pPr>
            <a:r>
              <a:rPr lang="en-IN" sz="1350" b="0" i="0" dirty="0">
                <a:solidFill>
                  <a:srgbClr val="1D1D1F"/>
                </a:solidFill>
                <a:latin typeface="Segoe UI"/>
                <a:cs typeface="Segoe UI"/>
              </a:rPr>
              <a:t>Price lists and policies answered on screen, even quick sums like 15 × ₹1,200 × 6/12 = ₹9,000.</a:t>
            </a:r>
          </a:p>
          <a:p>
            <a:pPr algn="l">
              <a:lnSpc>
                <a:spcPct val="105000"/>
              </a:lnSpc>
              <a:spcBef>
                <a:spcPts val="0"/>
              </a:spcBef>
              <a:spcAft>
                <a:spcPts val="0"/>
              </a:spcAft>
              <a:buNone/>
            </a:pPr>
            <a:r>
              <a:rPr lang="en-IN" sz="1200" b="0" i="1" dirty="0">
                <a:solidFill>
                  <a:srgbClr val="5F5F64"/>
                </a:solidFill>
                <a:latin typeface="Segoe UI"/>
                <a:cs typeface="Segoe UI"/>
              </a:rPr>
              <a:t>How: local semantic search over your files and past calls.</a:t>
            </a:r>
          </a:p>
        </p:txBody>
      </p:sp>
      <p:sp>
        <p:nvSpPr>
          <p:cNvPr id="107" name="Sync 107"/>
          <p:cNvSpPr txBox="1"/>
          <p:nvPr/>
        </p:nvSpPr>
        <p:spPr>
          <a:xfrm>
            <a:off x="8093333" y="1680000"/>
            <a:ext cx="60000" cy="228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
        <p:nvSpPr>
          <p:cNvPr id="108" name="Sync 108"/>
          <p:cNvSpPr txBox="1"/>
          <p:nvPr/>
        </p:nvSpPr>
        <p:spPr>
          <a:xfrm>
            <a:off x="560000" y="4160000"/>
            <a:ext cx="3546666" cy="2280000"/>
          </a:xfrm>
          <a:prstGeom prst="roundRect">
            <a:avLst>
              <a:gd name="adj" fmla="val 6000"/>
            </a:avLst>
          </a:prstGeom>
          <a:solidFill>
            <a:srgbClr val="F6F6F8"/>
          </a:solidFill>
          <a:ln w="12700">
            <a:solidFill>
              <a:srgbClr val="E4E4E8"/>
            </a:solidFill>
          </a:ln>
        </p:spPr>
        <p:txBody>
          <a:bodyPr wrap="square" lIns="220000" tIns="170000" rIns="200000" bIns="100000" rtlCol="0" anchor="t">
            <a:noAutofit/>
          </a:bodyPr>
          <a:lstStyle/>
          <a:p>
            <a:pPr algn="l">
              <a:spcBef>
                <a:spcPts val="0"/>
              </a:spcBef>
              <a:spcAft>
                <a:spcPts val="400"/>
              </a:spcAft>
              <a:buNone/>
            </a:pPr>
            <a:r>
              <a:rPr lang="en-IN" sz="1700" b="0" i="0" dirty="0">
                <a:solidFill>
                  <a:srgbClr val="1D1D1F"/>
                </a:solidFill>
                <a:latin typeface="Segoe UI Semibold"/>
                <a:cs typeface="Segoe UI Semibold"/>
              </a:rPr>
              <a:t>Project memory with history</a:t>
            </a:r>
          </a:p>
          <a:p>
            <a:pPr algn="l">
              <a:lnSpc>
                <a:spcPct val="105000"/>
              </a:lnSpc>
              <a:spcBef>
                <a:spcPts val="0"/>
              </a:spcBef>
              <a:spcAft>
                <a:spcPts val="700"/>
              </a:spcAft>
              <a:buNone/>
            </a:pPr>
            <a:r>
              <a:rPr lang="en-IN" sz="1350" b="0" i="0" dirty="0">
                <a:solidFill>
                  <a:srgbClr val="1D1D1F"/>
                </a:solidFill>
                <a:latin typeface="Segoe UI"/>
                <a:cs typeface="Segoe UI"/>
              </a:rPr>
              <a:t>Every fact, number, decision and promise, linked to the moment it was said.</a:t>
            </a:r>
          </a:p>
          <a:p>
            <a:pPr algn="l">
              <a:lnSpc>
                <a:spcPct val="105000"/>
              </a:lnSpc>
              <a:spcBef>
                <a:spcPts val="0"/>
              </a:spcBef>
              <a:spcAft>
                <a:spcPts val="0"/>
              </a:spcAft>
              <a:buNone/>
            </a:pPr>
            <a:r>
              <a:rPr lang="en-IN" sz="1200" b="0" i="1" dirty="0">
                <a:solidFill>
                  <a:srgbClr val="5F5F64"/>
                </a:solidFill>
                <a:latin typeface="Segoe UI"/>
                <a:cs typeface="Segoe UI"/>
              </a:rPr>
              <a:t>How: an append-only record. Every change shows who made it and when.</a:t>
            </a:r>
          </a:p>
        </p:txBody>
      </p:sp>
      <p:sp>
        <p:nvSpPr>
          <p:cNvPr id="109" name="Sync 109"/>
          <p:cNvSpPr txBox="1"/>
          <p:nvPr/>
        </p:nvSpPr>
        <p:spPr>
          <a:xfrm>
            <a:off x="560000" y="4160000"/>
            <a:ext cx="60000" cy="228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
        <p:nvSpPr>
          <p:cNvPr id="110" name="Sync 110"/>
          <p:cNvSpPr txBox="1"/>
          <p:nvPr/>
        </p:nvSpPr>
        <p:spPr>
          <a:xfrm>
            <a:off x="4326666" y="4160000"/>
            <a:ext cx="3546666" cy="2280000"/>
          </a:xfrm>
          <a:prstGeom prst="roundRect">
            <a:avLst>
              <a:gd name="adj" fmla="val 6000"/>
            </a:avLst>
          </a:prstGeom>
          <a:solidFill>
            <a:srgbClr val="F6F6F8"/>
          </a:solidFill>
          <a:ln w="12700">
            <a:solidFill>
              <a:srgbClr val="E4E4E8"/>
            </a:solidFill>
          </a:ln>
        </p:spPr>
        <p:txBody>
          <a:bodyPr wrap="square" lIns="220000" tIns="170000" rIns="200000" bIns="100000" rtlCol="0" anchor="t">
            <a:noAutofit/>
          </a:bodyPr>
          <a:lstStyle/>
          <a:p>
            <a:pPr algn="l">
              <a:spcBef>
                <a:spcPts val="0"/>
              </a:spcBef>
              <a:spcAft>
                <a:spcPts val="400"/>
              </a:spcAft>
              <a:buNone/>
            </a:pPr>
            <a:r>
              <a:rPr lang="en-IN" sz="1700" b="0" i="0" dirty="0">
                <a:solidFill>
                  <a:srgbClr val="1D1D1F"/>
                </a:solidFill>
                <a:latin typeface="Segoe UI Semibold"/>
                <a:cs typeface="Segoe UI Semibold"/>
              </a:rPr>
              <a:t>A recap you approve</a:t>
            </a:r>
          </a:p>
          <a:p>
            <a:pPr algn="l">
              <a:lnSpc>
                <a:spcPct val="105000"/>
              </a:lnSpc>
              <a:spcBef>
                <a:spcPts val="0"/>
              </a:spcBef>
              <a:spcAft>
                <a:spcPts val="700"/>
              </a:spcAft>
              <a:buNone/>
            </a:pPr>
            <a:r>
              <a:rPr lang="en-IN" sz="1350" b="0" i="0" dirty="0">
                <a:solidFill>
                  <a:srgbClr val="1D1D1F"/>
                </a:solidFill>
                <a:latin typeface="Segoe UI"/>
                <a:cs typeface="Segoe UI"/>
              </a:rPr>
              <a:t>After the call, a deeper model re-reads it and proposes updates and a follow-up draft.</a:t>
            </a:r>
          </a:p>
          <a:p>
            <a:pPr algn="l">
              <a:lnSpc>
                <a:spcPct val="105000"/>
              </a:lnSpc>
              <a:spcBef>
                <a:spcPts val="0"/>
              </a:spcBef>
              <a:spcAft>
                <a:spcPts val="0"/>
              </a:spcAft>
              <a:buNone/>
            </a:pPr>
            <a:r>
              <a:rPr lang="en-IN" sz="1200" b="0" i="1" dirty="0">
                <a:solidFill>
                  <a:srgbClr val="5F5F64"/>
                </a:solidFill>
                <a:latin typeface="Segoe UI"/>
                <a:cs typeface="Segoe UI"/>
              </a:rPr>
              <a:t>How: nothing is saved to the project until you confirm, edit or reject it.</a:t>
            </a:r>
          </a:p>
        </p:txBody>
      </p:sp>
      <p:sp>
        <p:nvSpPr>
          <p:cNvPr id="111" name="Sync 111"/>
          <p:cNvSpPr txBox="1"/>
          <p:nvPr/>
        </p:nvSpPr>
        <p:spPr>
          <a:xfrm>
            <a:off x="4326666" y="4160000"/>
            <a:ext cx="60000" cy="228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
        <p:nvSpPr>
          <p:cNvPr id="112" name="Sync 112"/>
          <p:cNvSpPr txBox="1"/>
          <p:nvPr/>
        </p:nvSpPr>
        <p:spPr>
          <a:xfrm>
            <a:off x="8093333" y="4160000"/>
            <a:ext cx="3546666" cy="2280000"/>
          </a:xfrm>
          <a:prstGeom prst="roundRect">
            <a:avLst>
              <a:gd name="adj" fmla="val 6000"/>
            </a:avLst>
          </a:prstGeom>
          <a:solidFill>
            <a:srgbClr val="F6F6F8"/>
          </a:solidFill>
          <a:ln w="12700">
            <a:solidFill>
              <a:srgbClr val="E4E4E8"/>
            </a:solidFill>
          </a:ln>
        </p:spPr>
        <p:txBody>
          <a:bodyPr wrap="square" lIns="220000" tIns="170000" rIns="200000" bIns="100000" rtlCol="0" anchor="t">
            <a:noAutofit/>
          </a:bodyPr>
          <a:lstStyle/>
          <a:p>
            <a:pPr algn="l">
              <a:spcBef>
                <a:spcPts val="0"/>
              </a:spcBef>
              <a:spcAft>
                <a:spcPts val="400"/>
              </a:spcAft>
              <a:buNone/>
            </a:pPr>
            <a:r>
              <a:rPr lang="en-IN" sz="1700" b="0" i="0" dirty="0">
                <a:solidFill>
                  <a:srgbClr val="1D1D1F"/>
                </a:solidFill>
                <a:latin typeface="Segoe UI Semibold"/>
                <a:cs typeface="Segoe UI Semibold"/>
              </a:rPr>
              <a:t>Ask Sync and shared projects</a:t>
            </a:r>
          </a:p>
          <a:p>
            <a:pPr algn="l">
              <a:lnSpc>
                <a:spcPct val="105000"/>
              </a:lnSpc>
              <a:spcBef>
                <a:spcPts val="0"/>
              </a:spcBef>
              <a:spcAft>
                <a:spcPts val="700"/>
              </a:spcAft>
              <a:buNone/>
            </a:pPr>
            <a:r>
              <a:rPr lang="en-IN" sz="1350" b="0" i="0" dirty="0">
                <a:solidFill>
                  <a:srgbClr val="1D1D1F"/>
                </a:solidFill>
                <a:latin typeface="Segoe UI"/>
                <a:cs typeface="Segoe UI"/>
              </a:rPr>
              <a:t>Ask anything about past calls and get answers with sources. Invite teammates to a project.</a:t>
            </a:r>
          </a:p>
          <a:p>
            <a:pPr algn="l">
              <a:lnSpc>
                <a:spcPct val="105000"/>
              </a:lnSpc>
              <a:spcBef>
                <a:spcPts val="0"/>
              </a:spcBef>
              <a:spcAft>
                <a:spcPts val="0"/>
              </a:spcAft>
              <a:buNone/>
            </a:pPr>
            <a:r>
              <a:rPr lang="en-IN" sz="1200" b="0" i="1" dirty="0">
                <a:solidFill>
                  <a:srgbClr val="5F5F64"/>
                </a:solidFill>
                <a:latin typeface="Segoe UI"/>
                <a:cs typeface="Segoe UI"/>
              </a:rPr>
              <a:t>How: chat over the project's full memory. Teammates join with an invite link.</a:t>
            </a:r>
          </a:p>
        </p:txBody>
      </p:sp>
      <p:sp>
        <p:nvSpPr>
          <p:cNvPr id="113" name="Sync 113"/>
          <p:cNvSpPr txBox="1"/>
          <p:nvPr/>
        </p:nvSpPr>
        <p:spPr>
          <a:xfrm>
            <a:off x="8093333" y="4160000"/>
            <a:ext cx="60000" cy="228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Tree>
    <p:extLst>
      <p:ext uri="{BB962C8B-B14F-4D97-AF65-F5344CB8AC3E}">
        <p14:creationId xmlns:p14="http://schemas.microsoft.com/office/powerpoint/2010/main" val="2804763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6E270-9A35-5083-40F8-BB3A67CD39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9E128F-DE44-FBDA-B31C-946FA4A463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356DD026-120A-3106-6C02-5DDA8524B5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60FC4D7B-8C51-628B-22F4-69821D1FBAE9}"/>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latin typeface="Clash Display" pitchFamily="50" charset="0"/>
              </a:rPr>
              <a:t>Live Demo with UI</a:t>
            </a:r>
          </a:p>
        </p:txBody>
      </p:sp>
      <p:sp>
        <p:nvSpPr>
          <p:cNvPr id="101" name="Sync 101"/>
          <p:cNvSpPr txBox="1"/>
          <p:nvPr/>
        </p:nvSpPr>
        <p:spPr>
          <a:xfrm>
            <a:off x="560000" y="1060000"/>
            <a:ext cx="11080000" cy="480000"/>
          </a:xfrm>
          <a:prstGeom prst="rect">
            <a:avLst/>
          </a:prstGeom>
          <a:noFill/>
          <a:ln>
            <a:noFill/>
          </a:ln>
        </p:spPr>
        <p:txBody>
          <a:bodyPr wrap="square" lIns="0" tIns="0" rIns="0" bIns="0" rtlCol="0" anchor="t">
            <a:noAutofit/>
          </a:bodyPr>
          <a:lstStyle/>
          <a:p>
            <a:pPr algn="l">
              <a:spcBef>
                <a:spcPts val="0"/>
              </a:spcBef>
              <a:spcAft>
                <a:spcPts val="0"/>
              </a:spcAft>
              <a:buNone/>
            </a:pPr>
            <a:r>
              <a:rPr lang="en-IN" sz="1800" b="0" i="0" dirty="0">
                <a:solidFill>
                  <a:srgbClr val="1D1D1F"/>
                </a:solidFill>
                <a:latin typeface="Segoe UI Semibold"/>
                <a:cs typeface="Segoe UI Semibold"/>
              </a:rPr>
              <a:t>Demo: a real (sample) call running through Sync, live on this laptop.</a:t>
            </a:r>
          </a:p>
        </p:txBody>
      </p:sp>
      <p:pic>
        <p:nvPicPr>
          <p:cNvPr id="102" name="Sync image 102"/>
          <p:cNvPicPr>
            <a:picLocks noChangeAspect="1"/>
          </p:cNvPicPr>
          <p:nvPr/>
        </p:nvPicPr>
        <p:blipFill>
          <a:blip r:embed="rId4"/>
          <a:stretch>
            <a:fillRect/>
          </a:stretch>
        </p:blipFill>
        <p:spPr>
          <a:xfrm>
            <a:off x="560000" y="1680000"/>
            <a:ext cx="6500000" cy="4062500"/>
          </a:xfrm>
          <a:prstGeom prst="rect">
            <a:avLst/>
          </a:prstGeom>
          <a:ln w="9525">
            <a:solidFill>
              <a:srgbClr val="E4E4E8"/>
            </a:solidFill>
          </a:ln>
          <a:effectLst>
            <a:outerShdw blurRad="88900" dist="19050" dir="5400000" algn="t" rotWithShape="0">
              <a:srgbClr val="000000">
                <a:alpha val="16000"/>
              </a:srgbClr>
            </a:outerShdw>
          </a:effectLst>
        </p:spPr>
      </p:pic>
      <p:sp>
        <p:nvSpPr>
          <p:cNvPr id="103" name="Sync 103"/>
          <p:cNvSpPr txBox="1"/>
          <p:nvPr/>
        </p:nvSpPr>
        <p:spPr>
          <a:xfrm>
            <a:off x="560000" y="5782500"/>
            <a:ext cx="6500000" cy="300000"/>
          </a:xfrm>
          <a:prstGeom prst="rect">
            <a:avLst/>
          </a:prstGeom>
          <a:noFill/>
          <a:ln>
            <a:noFill/>
          </a:ln>
        </p:spPr>
        <p:txBody>
          <a:bodyPr wrap="square" lIns="0" tIns="0" rIns="0" bIns="0" rtlCol="0" anchor="t">
            <a:noAutofit/>
          </a:bodyPr>
          <a:lstStyle/>
          <a:p>
            <a:pPr algn="ctr">
              <a:spcBef>
                <a:spcPts val="0"/>
              </a:spcBef>
              <a:spcAft>
                <a:spcPts val="0"/>
              </a:spcAft>
              <a:buNone/>
            </a:pPr>
            <a:r>
              <a:rPr lang="en-IN" sz="1100" b="0" i="0" dirty="0">
                <a:solidFill>
                  <a:srgbClr val="5F5F64"/>
                </a:solidFill>
                <a:latin typeface="Segoe UI"/>
                <a:cs typeface="Segoe UI"/>
              </a:rPr>
              <a:t>Live companion: the active nudge, live transcript and goals still to cover</a:t>
            </a:r>
          </a:p>
        </p:txBody>
      </p:sp>
      <p:pic>
        <p:nvPicPr>
          <p:cNvPr id="104" name="Sync image 104"/>
          <p:cNvPicPr>
            <a:picLocks noChangeAspect="1"/>
          </p:cNvPicPr>
          <p:nvPr/>
        </p:nvPicPr>
        <p:blipFill>
          <a:blip r:embed="rId5"/>
          <a:stretch>
            <a:fillRect/>
          </a:stretch>
        </p:blipFill>
        <p:spPr>
          <a:xfrm>
            <a:off x="7360000" y="1680000"/>
            <a:ext cx="4280000" cy="1924616"/>
          </a:xfrm>
          <a:prstGeom prst="rect">
            <a:avLst/>
          </a:prstGeom>
          <a:ln w="9525">
            <a:solidFill>
              <a:srgbClr val="E4E4E8"/>
            </a:solidFill>
          </a:ln>
          <a:effectLst>
            <a:outerShdw blurRad="88900" dist="19050" dir="5400000" algn="t" rotWithShape="0">
              <a:srgbClr val="000000">
                <a:alpha val="16000"/>
              </a:srgbClr>
            </a:outerShdw>
          </a:effectLst>
        </p:spPr>
      </p:pic>
      <p:sp>
        <p:nvSpPr>
          <p:cNvPr id="105" name="Sync 105"/>
          <p:cNvSpPr txBox="1"/>
          <p:nvPr/>
        </p:nvSpPr>
        <p:spPr>
          <a:xfrm>
            <a:off x="7360000" y="3634616"/>
            <a:ext cx="4280000" cy="300000"/>
          </a:xfrm>
          <a:prstGeom prst="rect">
            <a:avLst/>
          </a:prstGeom>
          <a:noFill/>
          <a:ln>
            <a:noFill/>
          </a:ln>
        </p:spPr>
        <p:txBody>
          <a:bodyPr wrap="square" lIns="0" tIns="0" rIns="0" bIns="0" rtlCol="0" anchor="t">
            <a:noAutofit/>
          </a:bodyPr>
          <a:lstStyle/>
          <a:p>
            <a:pPr algn="ctr">
              <a:spcBef>
                <a:spcPts val="0"/>
              </a:spcBef>
              <a:spcAft>
                <a:spcPts val="0"/>
              </a:spcAft>
              <a:buNone/>
            </a:pPr>
            <a:r>
              <a:rPr lang="en-IN" sz="1100" b="0" i="0" dirty="0">
                <a:solidFill>
                  <a:srgbClr val="5F5F64"/>
                </a:solidFill>
                <a:latin typeface="Segoe UI"/>
                <a:cs typeface="Segoe UI"/>
              </a:rPr>
              <a:t>On-screen nudges, over any app, visible only to you</a:t>
            </a:r>
          </a:p>
        </p:txBody>
      </p:sp>
      <p:pic>
        <p:nvPicPr>
          <p:cNvPr id="106" name="Sync image 106"/>
          <p:cNvPicPr>
            <a:picLocks noChangeAspect="1"/>
          </p:cNvPicPr>
          <p:nvPr/>
        </p:nvPicPr>
        <p:blipFill>
          <a:blip r:embed="rId6"/>
          <a:stretch>
            <a:fillRect/>
          </a:stretch>
        </p:blipFill>
        <p:spPr>
          <a:xfrm>
            <a:off x="7360000" y="4024616"/>
            <a:ext cx="1750000" cy="1567164"/>
          </a:xfrm>
          <a:prstGeom prst="rect">
            <a:avLst/>
          </a:prstGeom>
          <a:ln w="9525">
            <a:solidFill>
              <a:srgbClr val="E4E4E8"/>
            </a:solidFill>
          </a:ln>
          <a:effectLst>
            <a:outerShdw blurRad="88900" dist="19050" dir="5400000" algn="t" rotWithShape="0">
              <a:srgbClr val="000000">
                <a:alpha val="16000"/>
              </a:srgbClr>
            </a:outerShdw>
          </a:effectLst>
        </p:spPr>
      </p:pic>
      <p:sp>
        <p:nvSpPr>
          <p:cNvPr id="107" name="Sync 107"/>
          <p:cNvSpPr txBox="1"/>
          <p:nvPr/>
        </p:nvSpPr>
        <p:spPr>
          <a:xfrm>
            <a:off x="9310000" y="3984616"/>
            <a:ext cx="2330000" cy="1647164"/>
          </a:xfrm>
          <a:prstGeom prst="rect">
            <a:avLst/>
          </a:prstGeom>
          <a:noFill/>
          <a:ln>
            <a:noFill/>
          </a:ln>
        </p:spPr>
        <p:txBody>
          <a:bodyPr wrap="square" lIns="0" tIns="0" rIns="0" bIns="0" rtlCol="0" anchor="t">
            <a:noAutofit/>
          </a:bodyPr>
          <a:lstStyle/>
          <a:p>
            <a:pPr algn="l">
              <a:spcBef>
                <a:spcPts val="0"/>
              </a:spcBef>
              <a:spcAft>
                <a:spcPts val="300"/>
              </a:spcAft>
              <a:buNone/>
            </a:pPr>
            <a:r>
              <a:rPr lang="en-IN" sz="1300" b="0" i="0" dirty="0">
                <a:solidFill>
                  <a:srgbClr val="1D1D1F"/>
                </a:solidFill>
                <a:latin typeface="Segoe UI Semibold"/>
                <a:cs typeface="Segoe UI Semibold"/>
              </a:rPr>
              <a:t>Demo flow</a:t>
            </a:r>
          </a:p>
          <a:p>
            <a:pPr algn="l">
              <a:lnSpc>
                <a:spcPct val="100000"/>
              </a:lnSpc>
              <a:spcBef>
                <a:spcPts val="0"/>
              </a:spcBef>
              <a:spcAft>
                <a:spcPts val="250"/>
              </a:spcAft>
              <a:buNone/>
            </a:pPr>
            <a:r>
              <a:rPr lang="en-IN" sz="1150" b="0" i="0" dirty="0">
                <a:solidFill>
                  <a:srgbClr val="D4070F"/>
                </a:solidFill>
                <a:latin typeface="Segoe UI Semibold"/>
                <a:cs typeface="Segoe UI Semibold"/>
              </a:rPr>
              <a:t>1. </a:t>
            </a:r>
            <a:r>
              <a:rPr lang="en-IN" sz="1150" b="0" i="0" dirty="0">
                <a:solidFill>
                  <a:srgbClr val="1D1D1F"/>
                </a:solidFill>
                <a:latin typeface="Segoe UI"/>
                <a:cs typeface="Segoe UI"/>
              </a:rPr>
              <a:t>Play a sample call</a:t>
            </a:r>
          </a:p>
          <a:p>
            <a:pPr algn="l">
              <a:lnSpc>
                <a:spcPct val="100000"/>
              </a:lnSpc>
              <a:spcBef>
                <a:spcPts val="0"/>
              </a:spcBef>
              <a:spcAft>
                <a:spcPts val="250"/>
              </a:spcAft>
              <a:buNone/>
            </a:pPr>
            <a:r>
              <a:rPr lang="en-IN" sz="1150" b="0" i="0" dirty="0">
                <a:solidFill>
                  <a:srgbClr val="D4070F"/>
                </a:solidFill>
                <a:latin typeface="Segoe UI Semibold"/>
                <a:cs typeface="Segoe UI Semibold"/>
              </a:rPr>
              <a:t>2. </a:t>
            </a:r>
            <a:r>
              <a:rPr lang="en-IN" sz="1150" b="0" i="0" dirty="0">
                <a:solidFill>
                  <a:srgbClr val="1D1D1F"/>
                </a:solidFill>
                <a:latin typeface="Segoe UI"/>
                <a:cs typeface="Segoe UI"/>
              </a:rPr>
              <a:t>Sync spots it and asks which project</a:t>
            </a:r>
          </a:p>
          <a:p>
            <a:pPr algn="l">
              <a:lnSpc>
                <a:spcPct val="100000"/>
              </a:lnSpc>
              <a:spcBef>
                <a:spcPts val="0"/>
              </a:spcBef>
              <a:spcAft>
                <a:spcPts val="250"/>
              </a:spcAft>
              <a:buNone/>
            </a:pPr>
            <a:r>
              <a:rPr lang="en-IN" sz="1150" b="0" i="0" dirty="0">
                <a:solidFill>
                  <a:srgbClr val="D4070F"/>
                </a:solidFill>
                <a:latin typeface="Segoe UI Semibold"/>
                <a:cs typeface="Segoe UI Semibold"/>
              </a:rPr>
              <a:t>3. </a:t>
            </a:r>
            <a:r>
              <a:rPr lang="en-IN" sz="1150" b="0" i="0" dirty="0">
                <a:solidFill>
                  <a:srgbClr val="1D1D1F"/>
                </a:solidFill>
                <a:latin typeface="Segoe UI"/>
                <a:cs typeface="Segoe UI"/>
              </a:rPr>
              <a:t>Nudges appear as the call goes</a:t>
            </a:r>
          </a:p>
          <a:p>
            <a:pPr algn="l">
              <a:lnSpc>
                <a:spcPct val="100000"/>
              </a:lnSpc>
              <a:spcBef>
                <a:spcPts val="0"/>
              </a:spcBef>
              <a:spcAft>
                <a:spcPts val="250"/>
              </a:spcAft>
              <a:buNone/>
            </a:pPr>
            <a:r>
              <a:rPr lang="en-IN" sz="1150" b="0" i="0" dirty="0">
                <a:solidFill>
                  <a:srgbClr val="D4070F"/>
                </a:solidFill>
                <a:latin typeface="Segoe UI Semibold"/>
                <a:cs typeface="Segoe UI Semibold"/>
              </a:rPr>
              <a:t>4. </a:t>
            </a:r>
            <a:r>
              <a:rPr lang="en-IN" sz="1150" b="0" i="0" dirty="0">
                <a:solidFill>
                  <a:srgbClr val="1D1D1F"/>
                </a:solidFill>
                <a:latin typeface="Segoe UI"/>
                <a:cs typeface="Segoe UI"/>
              </a:rPr>
              <a:t>“Close the loop” before hanging up</a:t>
            </a:r>
          </a:p>
          <a:p>
            <a:pPr algn="l">
              <a:lnSpc>
                <a:spcPct val="100000"/>
              </a:lnSpc>
              <a:spcBef>
                <a:spcPts val="0"/>
              </a:spcBef>
              <a:spcAft>
                <a:spcPts val="250"/>
              </a:spcAft>
              <a:buNone/>
            </a:pPr>
            <a:r>
              <a:rPr lang="en-IN" sz="1150" b="0" i="0" dirty="0">
                <a:solidFill>
                  <a:srgbClr val="D4070F"/>
                </a:solidFill>
                <a:latin typeface="Segoe UI Semibold"/>
                <a:cs typeface="Segoe UI Semibold"/>
              </a:rPr>
              <a:t>5. </a:t>
            </a:r>
            <a:r>
              <a:rPr lang="en-IN" sz="1150" b="0" i="0" dirty="0">
                <a:solidFill>
                  <a:srgbClr val="1D1D1F"/>
                </a:solidFill>
                <a:latin typeface="Segoe UI"/>
                <a:cs typeface="Segoe UI"/>
              </a:rPr>
              <a:t>Review the recap and follow-up</a:t>
            </a:r>
          </a:p>
        </p:txBody>
      </p:sp>
    </p:spTree>
    <p:extLst>
      <p:ext uri="{BB962C8B-B14F-4D97-AF65-F5344CB8AC3E}">
        <p14:creationId xmlns:p14="http://schemas.microsoft.com/office/powerpoint/2010/main" val="1525779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AFECF-CACD-B1CD-C6E1-9C657EB588A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3E39C2-6D94-85D5-B871-38F623940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87EF8453-BFA1-1C36-6B39-C927C6A5C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097EC384-8EF2-B395-37B7-36C6527D8447}"/>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latin typeface="Clash Display" pitchFamily="50" charset="0"/>
              </a:rPr>
              <a:t>Impact, Feasibility and Scalability</a:t>
            </a:r>
          </a:p>
        </p:txBody>
      </p:sp>
      <p:sp>
        <p:nvSpPr>
          <p:cNvPr id="101" name="Sync 101"/>
          <p:cNvSpPr txBox="1"/>
          <p:nvPr/>
        </p:nvSpPr>
        <p:spPr>
          <a:xfrm>
            <a:off x="560000" y="1060000"/>
            <a:ext cx="2620000" cy="1050000"/>
          </a:xfrm>
          <a:prstGeom prst="roundRect">
            <a:avLst>
              <a:gd name="adj" fmla="val 8000"/>
            </a:avLst>
          </a:prstGeom>
          <a:solidFill>
            <a:srgbClr val="F6F6F8"/>
          </a:solidFill>
          <a:ln w="12700">
            <a:solidFill>
              <a:srgbClr val="E4E4E8"/>
            </a:solidFill>
          </a:ln>
        </p:spPr>
        <p:txBody>
          <a:bodyPr wrap="square" lIns="100000" tIns="110000" rIns="100000" bIns="80000" rtlCol="0" anchor="ctr">
            <a:noAutofit/>
          </a:bodyPr>
          <a:lstStyle/>
          <a:p>
            <a:pPr algn="ctr">
              <a:spcBef>
                <a:spcPts val="0"/>
              </a:spcBef>
              <a:spcAft>
                <a:spcPts val="100"/>
              </a:spcAft>
              <a:buNone/>
            </a:pPr>
            <a:r>
              <a:rPr lang="en-IN" sz="2600" b="0" i="0" dirty="0">
                <a:solidFill>
                  <a:srgbClr val="D4070F"/>
                </a:solidFill>
                <a:latin typeface="Segoe UI Semibold"/>
                <a:cs typeface="Segoe UI Semibold"/>
              </a:rPr>
              <a:t>13 / 13</a:t>
            </a:r>
          </a:p>
          <a:p>
            <a:pPr algn="ctr">
              <a:lnSpc>
                <a:spcPct val="100000"/>
              </a:lnSpc>
              <a:spcBef>
                <a:spcPts val="0"/>
              </a:spcBef>
              <a:spcAft>
                <a:spcPts val="0"/>
              </a:spcAft>
              <a:buNone/>
            </a:pPr>
            <a:r>
              <a:rPr lang="en-IN" sz="1250" b="0" i="0" dirty="0">
                <a:solidFill>
                  <a:srgbClr val="5F5F64"/>
                </a:solidFill>
                <a:latin typeface="Segoe UI"/>
                <a:cs typeface="Segoe UI"/>
              </a:rPr>
              <a:t>planted moments caught in our test scripts</a:t>
            </a:r>
          </a:p>
        </p:txBody>
      </p:sp>
      <p:sp>
        <p:nvSpPr>
          <p:cNvPr id="102" name="Sync 102"/>
          <p:cNvSpPr txBox="1"/>
          <p:nvPr/>
        </p:nvSpPr>
        <p:spPr>
          <a:xfrm>
            <a:off x="3380000" y="1060000"/>
            <a:ext cx="2620000" cy="1050000"/>
          </a:xfrm>
          <a:prstGeom prst="roundRect">
            <a:avLst>
              <a:gd name="adj" fmla="val 8000"/>
            </a:avLst>
          </a:prstGeom>
          <a:solidFill>
            <a:srgbClr val="F6F6F8"/>
          </a:solidFill>
          <a:ln w="12700">
            <a:solidFill>
              <a:srgbClr val="E4E4E8"/>
            </a:solidFill>
          </a:ln>
        </p:spPr>
        <p:txBody>
          <a:bodyPr wrap="square" lIns="100000" tIns="110000" rIns="100000" bIns="80000" rtlCol="0" anchor="ctr">
            <a:noAutofit/>
          </a:bodyPr>
          <a:lstStyle/>
          <a:p>
            <a:pPr algn="ctr">
              <a:spcBef>
                <a:spcPts val="0"/>
              </a:spcBef>
              <a:spcAft>
                <a:spcPts val="100"/>
              </a:spcAft>
              <a:buNone/>
            </a:pPr>
            <a:r>
              <a:rPr lang="en-IN" sz="2600" b="0" i="0" dirty="0">
                <a:solidFill>
                  <a:srgbClr val="D4070F"/>
                </a:solidFill>
                <a:latin typeface="Segoe UI Semibold"/>
                <a:cs typeface="Segoe UI Semibold"/>
              </a:rPr>
              <a:t>0</a:t>
            </a:r>
          </a:p>
          <a:p>
            <a:pPr algn="ctr">
              <a:lnSpc>
                <a:spcPct val="100000"/>
              </a:lnSpc>
              <a:spcBef>
                <a:spcPts val="0"/>
              </a:spcBef>
              <a:spcAft>
                <a:spcPts val="0"/>
              </a:spcAft>
              <a:buNone/>
            </a:pPr>
            <a:r>
              <a:rPr lang="en-IN" sz="1250" b="0" i="0" dirty="0">
                <a:solidFill>
                  <a:srgbClr val="5F5F64"/>
                </a:solidFill>
                <a:latin typeface="Segoe UI"/>
                <a:cs typeface="Segoe UI"/>
              </a:rPr>
              <a:t>wrong nudges in those tests</a:t>
            </a:r>
          </a:p>
        </p:txBody>
      </p:sp>
      <p:sp>
        <p:nvSpPr>
          <p:cNvPr id="103" name="Sync 103"/>
          <p:cNvSpPr txBox="1"/>
          <p:nvPr/>
        </p:nvSpPr>
        <p:spPr>
          <a:xfrm>
            <a:off x="6200000" y="1060000"/>
            <a:ext cx="2620000" cy="1050000"/>
          </a:xfrm>
          <a:prstGeom prst="roundRect">
            <a:avLst>
              <a:gd name="adj" fmla="val 8000"/>
            </a:avLst>
          </a:prstGeom>
          <a:solidFill>
            <a:srgbClr val="F6F6F8"/>
          </a:solidFill>
          <a:ln w="12700">
            <a:solidFill>
              <a:srgbClr val="E4E4E8"/>
            </a:solidFill>
          </a:ln>
        </p:spPr>
        <p:txBody>
          <a:bodyPr wrap="square" lIns="100000" tIns="110000" rIns="100000" bIns="80000" rtlCol="0" anchor="ctr">
            <a:noAutofit/>
          </a:bodyPr>
          <a:lstStyle/>
          <a:p>
            <a:pPr algn="ctr">
              <a:spcBef>
                <a:spcPts val="0"/>
              </a:spcBef>
              <a:spcAft>
                <a:spcPts val="100"/>
              </a:spcAft>
              <a:buNone/>
            </a:pPr>
            <a:r>
              <a:rPr lang="en-IN" sz="2600" b="0" i="0" dirty="0">
                <a:solidFill>
                  <a:srgbClr val="D4070F"/>
                </a:solidFill>
                <a:latin typeface="Segoe UI Semibold"/>
                <a:cs typeface="Segoe UI Semibold"/>
              </a:rPr>
              <a:t>₹0</a:t>
            </a:r>
          </a:p>
          <a:p>
            <a:pPr algn="ctr">
              <a:lnSpc>
                <a:spcPct val="100000"/>
              </a:lnSpc>
              <a:spcBef>
                <a:spcPts val="0"/>
              </a:spcBef>
              <a:spcAft>
                <a:spcPts val="0"/>
              </a:spcAft>
              <a:buNone/>
            </a:pPr>
            <a:r>
              <a:rPr lang="en-IN" sz="1250" b="0" i="0" dirty="0">
                <a:solidFill>
                  <a:srgbClr val="5F5F64"/>
                </a:solidFill>
                <a:latin typeface="Segoe UI"/>
                <a:cs typeface="Segoe UI"/>
              </a:rPr>
              <a:t>running cost: free and open source</a:t>
            </a:r>
          </a:p>
        </p:txBody>
      </p:sp>
      <p:sp>
        <p:nvSpPr>
          <p:cNvPr id="104" name="Sync 104"/>
          <p:cNvSpPr txBox="1"/>
          <p:nvPr/>
        </p:nvSpPr>
        <p:spPr>
          <a:xfrm>
            <a:off x="9020000" y="1060000"/>
            <a:ext cx="2620000" cy="1050000"/>
          </a:xfrm>
          <a:prstGeom prst="roundRect">
            <a:avLst>
              <a:gd name="adj" fmla="val 8000"/>
            </a:avLst>
          </a:prstGeom>
          <a:solidFill>
            <a:srgbClr val="F6F6F8"/>
          </a:solidFill>
          <a:ln w="12700">
            <a:solidFill>
              <a:srgbClr val="E4E4E8"/>
            </a:solidFill>
          </a:ln>
        </p:spPr>
        <p:txBody>
          <a:bodyPr wrap="square" lIns="100000" tIns="110000" rIns="100000" bIns="80000" rtlCol="0" anchor="ctr">
            <a:noAutofit/>
          </a:bodyPr>
          <a:lstStyle/>
          <a:p>
            <a:pPr algn="ctr">
              <a:spcBef>
                <a:spcPts val="0"/>
              </a:spcBef>
              <a:spcAft>
                <a:spcPts val="100"/>
              </a:spcAft>
              <a:buNone/>
            </a:pPr>
            <a:r>
              <a:rPr lang="en-IN" sz="2600" b="0" i="0" dirty="0">
                <a:solidFill>
                  <a:srgbClr val="D4070F"/>
                </a:solidFill>
                <a:latin typeface="Segoe UI Semibold"/>
                <a:cs typeface="Segoe UI Semibold"/>
              </a:rPr>
              <a:t>100%</a:t>
            </a:r>
          </a:p>
          <a:p>
            <a:pPr algn="ctr">
              <a:lnSpc>
                <a:spcPct val="100000"/>
              </a:lnSpc>
              <a:spcBef>
                <a:spcPts val="0"/>
              </a:spcBef>
              <a:spcAft>
                <a:spcPts val="0"/>
              </a:spcAft>
              <a:buNone/>
            </a:pPr>
            <a:r>
              <a:rPr lang="en-IN" sz="1250" b="0" i="0" dirty="0">
                <a:solidFill>
                  <a:srgbClr val="5F5F64"/>
                </a:solidFill>
                <a:latin typeface="Segoe UI"/>
                <a:cs typeface="Segoe UI"/>
              </a:rPr>
              <a:t>on your laptop: audio never stored</a:t>
            </a:r>
          </a:p>
        </p:txBody>
      </p:sp>
      <p:sp>
        <p:nvSpPr>
          <p:cNvPr id="105" name="Sync 105"/>
          <p:cNvSpPr txBox="1"/>
          <p:nvPr/>
        </p:nvSpPr>
        <p:spPr>
          <a:xfrm>
            <a:off x="560000" y="2410000"/>
            <a:ext cx="3506666" cy="4060000"/>
          </a:xfrm>
          <a:prstGeom prst="roundRect">
            <a:avLst>
              <a:gd name="adj" fmla="val 5000"/>
            </a:avLst>
          </a:prstGeom>
          <a:solidFill>
            <a:srgbClr val="FFFFFF"/>
          </a:solidFill>
          <a:ln w="12700">
            <a:solidFill>
              <a:srgbClr val="E4E4E8"/>
            </a:solidFill>
          </a:ln>
        </p:spPr>
        <p:txBody>
          <a:bodyPr wrap="square" lIns="240000" tIns="260000" rIns="220000" bIns="120000" rtlCol="0" anchor="t">
            <a:noAutofit/>
          </a:bodyPr>
          <a:lstStyle/>
          <a:p>
            <a:pPr algn="l">
              <a:spcBef>
                <a:spcPts val="0"/>
              </a:spcBef>
              <a:spcAft>
                <a:spcPts val="900"/>
              </a:spcAft>
              <a:buNone/>
            </a:pPr>
            <a:r>
              <a:rPr lang="en-IN" sz="2000" b="0" i="0" dirty="0">
                <a:solidFill>
                  <a:srgbClr val="1D1D1F"/>
                </a:solidFill>
                <a:latin typeface="Segoe UI Semibold"/>
                <a:cs typeface="Segoe UI Semibold"/>
              </a:rPr>
              <a:t>Impact</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Fewer missed questions, owners and dates, caught while you can still act.</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Clients aren't asked the same thing twice: everyone works from one record.</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Tested on 4 scripted scenarios, including a group discussion.</a:t>
            </a:r>
          </a:p>
        </p:txBody>
      </p:sp>
      <p:sp>
        <p:nvSpPr>
          <p:cNvPr id="106" name="Sync 106"/>
          <p:cNvSpPr txBox="1"/>
          <p:nvPr/>
        </p:nvSpPr>
        <p:spPr>
          <a:xfrm>
            <a:off x="560000" y="2410000"/>
            <a:ext cx="3506666" cy="6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
        <p:nvSpPr>
          <p:cNvPr id="107" name="Sync 107"/>
          <p:cNvSpPr txBox="1"/>
          <p:nvPr/>
        </p:nvSpPr>
        <p:spPr>
          <a:xfrm>
            <a:off x="4346666" y="2410000"/>
            <a:ext cx="3506666" cy="4060000"/>
          </a:xfrm>
          <a:prstGeom prst="roundRect">
            <a:avLst>
              <a:gd name="adj" fmla="val 5000"/>
            </a:avLst>
          </a:prstGeom>
          <a:solidFill>
            <a:srgbClr val="FFFFFF"/>
          </a:solidFill>
          <a:ln w="12700">
            <a:solidFill>
              <a:srgbClr val="E4E4E8"/>
            </a:solidFill>
          </a:ln>
        </p:spPr>
        <p:txBody>
          <a:bodyPr wrap="square" lIns="240000" tIns="260000" rIns="220000" bIns="120000" rtlCol="0" anchor="t">
            <a:noAutofit/>
          </a:bodyPr>
          <a:lstStyle/>
          <a:p>
            <a:pPr algn="l">
              <a:spcBef>
                <a:spcPts val="0"/>
              </a:spcBef>
              <a:spcAft>
                <a:spcPts val="900"/>
              </a:spcAft>
              <a:buNone/>
            </a:pPr>
            <a:r>
              <a:rPr lang="en-IN" sz="2000" b="0" i="0" dirty="0">
                <a:solidFill>
                  <a:srgbClr val="1D1D1F"/>
                </a:solidFill>
                <a:latin typeface="Segoe UI Semibold"/>
                <a:cs typeface="Segoe UI Semibold"/>
              </a:rPr>
              <a:t>Feasibility</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Runs on an ordinary CPU laptop (i7, 16 GB). No GPU, no cloud.</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Built entirely on free, open-source tools and open AI models.</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Private by design, so it's easy to trust at work.</a:t>
            </a:r>
          </a:p>
        </p:txBody>
      </p:sp>
      <p:sp>
        <p:nvSpPr>
          <p:cNvPr id="108" name="Sync 108"/>
          <p:cNvSpPr txBox="1"/>
          <p:nvPr/>
        </p:nvSpPr>
        <p:spPr>
          <a:xfrm>
            <a:off x="4346666" y="2410000"/>
            <a:ext cx="3506666" cy="6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
        <p:nvSpPr>
          <p:cNvPr id="109" name="Sync 109"/>
          <p:cNvSpPr txBox="1"/>
          <p:nvPr/>
        </p:nvSpPr>
        <p:spPr>
          <a:xfrm>
            <a:off x="8133333" y="2410000"/>
            <a:ext cx="3506666" cy="4060000"/>
          </a:xfrm>
          <a:prstGeom prst="roundRect">
            <a:avLst>
              <a:gd name="adj" fmla="val 5000"/>
            </a:avLst>
          </a:prstGeom>
          <a:solidFill>
            <a:srgbClr val="FFFFFF"/>
          </a:solidFill>
          <a:ln w="12700">
            <a:solidFill>
              <a:srgbClr val="E4E4E8"/>
            </a:solidFill>
          </a:ln>
        </p:spPr>
        <p:txBody>
          <a:bodyPr wrap="square" lIns="240000" tIns="260000" rIns="220000" bIns="120000" rtlCol="0" anchor="t">
            <a:noAutofit/>
          </a:bodyPr>
          <a:lstStyle/>
          <a:p>
            <a:pPr algn="l">
              <a:spcBef>
                <a:spcPts val="0"/>
              </a:spcBef>
              <a:spcAft>
                <a:spcPts val="900"/>
              </a:spcAft>
              <a:buNone/>
            </a:pPr>
            <a:r>
              <a:rPr lang="en-IN" sz="2000" b="0" i="0" dirty="0">
                <a:solidFill>
                  <a:srgbClr val="1D1D1F"/>
                </a:solidFill>
                <a:latin typeface="Segoe UI Semibold"/>
                <a:cs typeface="Segoe UI Semibold"/>
              </a:rPr>
              <a:t>Scalability</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Shared projects for teams today, over your local network.</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Bigger models drop in when a GPU is available, with no code changes.</a:t>
            </a:r>
          </a:p>
          <a:p>
            <a:pPr marL="228600" indent="-228600" algn="l">
              <a:lnSpc>
                <a:spcPct val="108000"/>
              </a:lnSpc>
              <a:spcBef>
                <a:spcPts val="0"/>
              </a:spcBef>
              <a:spcAft>
                <a:spcPts val="1200"/>
              </a:spcAft>
              <a:buClr>
                <a:srgbClr val="D4070F"/>
              </a:buClr>
              <a:buFont typeface="Arial"/>
              <a:buChar char="•"/>
            </a:pPr>
            <a:r>
              <a:rPr lang="en-IN" sz="1550" b="0" i="0" dirty="0">
                <a:solidFill>
                  <a:srgbClr val="1D1D1F"/>
                </a:solidFill>
                <a:latin typeface="Segoe UI"/>
                <a:cs typeface="Segoe UI"/>
              </a:rPr>
              <a:t>Next: mobile companion, more languages, calendar and CRM links.</a:t>
            </a:r>
          </a:p>
        </p:txBody>
      </p:sp>
      <p:sp>
        <p:nvSpPr>
          <p:cNvPr id="110" name="Sync 110"/>
          <p:cNvSpPr txBox="1"/>
          <p:nvPr/>
        </p:nvSpPr>
        <p:spPr>
          <a:xfrm>
            <a:off x="8133333" y="2410000"/>
            <a:ext cx="3506666" cy="60000"/>
          </a:xfrm>
          <a:prstGeom prst="rect">
            <a:avLst/>
          </a:prstGeom>
          <a:solidFill>
            <a:srgbClr val="D4070F"/>
          </a:solidFill>
          <a:ln>
            <a:noFill/>
          </a:ln>
        </p:spPr>
        <p:txBody>
          <a:bodyPr wrap="square" lIns="0" tIns="0" rIns="0" bIns="0" rtlCol="0" anchor="t">
            <a:noAutofit/>
          </a:bodyPr>
          <a:lstStyle/>
          <a:p>
            <a:pPr algn="l">
              <a:spcBef>
                <a:spcPts val="0"/>
              </a:spcBef>
              <a:spcAft>
                <a:spcPts val="0"/>
              </a:spcAft>
              <a:buNone/>
            </a:pPr>
            <a:endParaRPr/>
          </a:p>
        </p:txBody>
      </p:sp>
    </p:spTree>
    <p:extLst>
      <p:ext uri="{BB962C8B-B14F-4D97-AF65-F5344CB8AC3E}">
        <p14:creationId xmlns:p14="http://schemas.microsoft.com/office/powerpoint/2010/main" val="2839349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EA48-E1D6-292D-96C4-9F0D93FE479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4CA22FA-B46B-A276-82B9-8D4B30E37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79475DC9-72AE-7640-8C9B-F3A9A6636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690B4AA1-7491-5D09-DD6B-C5DC2215B24E}"/>
              </a:ext>
            </a:extLst>
          </p:cNvPr>
          <p:cNvSpPr txBox="1"/>
          <p:nvPr/>
        </p:nvSpPr>
        <p:spPr>
          <a:xfrm>
            <a:off x="176979" y="175655"/>
            <a:ext cx="7256207" cy="523220"/>
          </a:xfrm>
          <a:prstGeom prst="rect">
            <a:avLst/>
          </a:prstGeom>
          <a:noFill/>
        </p:spPr>
        <p:txBody>
          <a:bodyPr wrap="square" rtlCol="0">
            <a:spAutoFit/>
          </a:bodyPr>
          <a:lstStyle/>
          <a:p>
            <a:r>
              <a:rPr lang="en-IN" sz="2800" b="1" dirty="0">
                <a:solidFill>
                  <a:schemeClr val="bg1"/>
                </a:solidFill>
                <a:latin typeface="Clash Display" pitchFamily="50" charset="0"/>
              </a:rPr>
              <a:t>Conclusion</a:t>
            </a:r>
          </a:p>
        </p:txBody>
      </p:sp>
      <p:sp>
        <p:nvSpPr>
          <p:cNvPr id="101" name="Sync 101"/>
          <p:cNvSpPr txBox="1"/>
          <p:nvPr/>
        </p:nvSpPr>
        <p:spPr>
          <a:xfrm>
            <a:off x="560000" y="1360000"/>
            <a:ext cx="11080000" cy="1150000"/>
          </a:xfrm>
          <a:prstGeom prst="rect">
            <a:avLst/>
          </a:prstGeom>
          <a:noFill/>
          <a:ln>
            <a:noFill/>
          </a:ln>
        </p:spPr>
        <p:txBody>
          <a:bodyPr wrap="square" lIns="0" tIns="0" rIns="0" bIns="0" rtlCol="0" anchor="t">
            <a:noAutofit/>
          </a:bodyPr>
          <a:lstStyle/>
          <a:p>
            <a:pPr algn="ctr">
              <a:spcBef>
                <a:spcPts val="0"/>
              </a:spcBef>
              <a:spcAft>
                <a:spcPts val="0"/>
              </a:spcAft>
              <a:buNone/>
            </a:pPr>
            <a:r>
              <a:rPr lang="en-IN" sz="3600" b="0" i="0" dirty="0">
                <a:solidFill>
                  <a:srgbClr val="1D1D1F"/>
                </a:solidFill>
                <a:latin typeface="Segoe UI Semibold"/>
                <a:cs typeface="Segoe UI Semibold"/>
              </a:rPr>
              <a:t>Sync doesn't help you talk.</a:t>
            </a:r>
          </a:p>
          <a:p>
            <a:pPr algn="ctr">
              <a:spcBef>
                <a:spcPts val="0"/>
              </a:spcBef>
              <a:spcAft>
                <a:spcPts val="0"/>
              </a:spcAft>
              <a:buNone/>
            </a:pPr>
            <a:r>
              <a:rPr lang="en-IN" sz="3600" b="0" i="0" dirty="0">
                <a:solidFill>
                  <a:srgbClr val="D4070F"/>
                </a:solidFill>
                <a:latin typeface="Segoe UI Semibold"/>
                <a:cs typeface="Segoe UI Semibold"/>
              </a:rPr>
              <a:t>It helps you finish.</a:t>
            </a:r>
          </a:p>
        </p:txBody>
      </p:sp>
      <p:sp>
        <p:nvSpPr>
          <p:cNvPr id="102" name="Sync 102"/>
          <p:cNvSpPr txBox="1"/>
          <p:nvPr/>
        </p:nvSpPr>
        <p:spPr>
          <a:xfrm>
            <a:off x="560000" y="2910000"/>
            <a:ext cx="3506666" cy="160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1900" b="0" i="0" dirty="0">
                <a:solidFill>
                  <a:srgbClr val="D4070F"/>
                </a:solidFill>
                <a:latin typeface="Segoe UI Semibold"/>
                <a:cs typeface="Segoe UI Semibold"/>
              </a:rPr>
              <a:t>01  </a:t>
            </a:r>
            <a:r>
              <a:rPr lang="en-IN" sz="1900" b="0" i="0" dirty="0">
                <a:solidFill>
                  <a:srgbClr val="1D1D1F"/>
                </a:solidFill>
                <a:latin typeface="Segoe UI Semibold"/>
                <a:cs typeface="Segoe UI Semibold"/>
              </a:rPr>
              <a:t>Catches what's missed</a:t>
            </a:r>
          </a:p>
          <a:p>
            <a:pPr algn="l">
              <a:lnSpc>
                <a:spcPct val="105000"/>
              </a:lnSpc>
              <a:spcBef>
                <a:spcPts val="0"/>
              </a:spcBef>
              <a:spcAft>
                <a:spcPts val="200"/>
              </a:spcAft>
              <a:buNone/>
            </a:pPr>
            <a:r>
              <a:rPr lang="en-IN" sz="1550" b="0" i="0" dirty="0">
                <a:solidFill>
                  <a:srgbClr val="5F5F64"/>
                </a:solidFill>
                <a:latin typeface="Segoe UI"/>
                <a:cs typeface="Segoe UI"/>
              </a:rPr>
              <a:t>while there's still time to fix it, without interrupting the conversation.</a:t>
            </a:r>
          </a:p>
        </p:txBody>
      </p:sp>
      <p:sp>
        <p:nvSpPr>
          <p:cNvPr id="103" name="Sync 103"/>
          <p:cNvSpPr txBox="1"/>
          <p:nvPr/>
        </p:nvSpPr>
        <p:spPr>
          <a:xfrm>
            <a:off x="4346666" y="2910000"/>
            <a:ext cx="3506666" cy="160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1900" b="0" i="0" dirty="0">
                <a:solidFill>
                  <a:srgbClr val="D4070F"/>
                </a:solidFill>
                <a:latin typeface="Segoe UI Semibold"/>
                <a:cs typeface="Segoe UI Semibold"/>
              </a:rPr>
              <a:t>02  </a:t>
            </a:r>
            <a:r>
              <a:rPr lang="en-IN" sz="1900" b="0" i="0" dirty="0">
                <a:solidFill>
                  <a:srgbClr val="1D1D1F"/>
                </a:solidFill>
                <a:latin typeface="Segoe UI Semibold"/>
                <a:cs typeface="Segoe UI Semibold"/>
              </a:rPr>
              <a:t>Remembers every project</a:t>
            </a:r>
          </a:p>
          <a:p>
            <a:pPr algn="l">
              <a:lnSpc>
                <a:spcPct val="105000"/>
              </a:lnSpc>
              <a:spcBef>
                <a:spcPts val="0"/>
              </a:spcBef>
              <a:spcAft>
                <a:spcPts val="200"/>
              </a:spcAft>
              <a:buNone/>
            </a:pPr>
            <a:r>
              <a:rPr lang="en-IN" sz="1550" b="0" i="0" dirty="0">
                <a:solidFill>
                  <a:srgbClr val="5F5F64"/>
                </a:solidFill>
                <a:latin typeface="Segoe UI"/>
                <a:cs typeface="Segoe UI"/>
              </a:rPr>
              <a:t>so nobody re-asks, contradicts or forgets what was agreed.</a:t>
            </a:r>
          </a:p>
        </p:txBody>
      </p:sp>
      <p:sp>
        <p:nvSpPr>
          <p:cNvPr id="104" name="Sync 104"/>
          <p:cNvSpPr txBox="1"/>
          <p:nvPr/>
        </p:nvSpPr>
        <p:spPr>
          <a:xfrm>
            <a:off x="8133333" y="2910000"/>
            <a:ext cx="3506666" cy="1600000"/>
          </a:xfrm>
          <a:prstGeom prst="roundRect">
            <a:avLst>
              <a:gd name="adj" fmla="val 7000"/>
            </a:avLst>
          </a:prstGeom>
          <a:solidFill>
            <a:srgbClr val="F6F6F8"/>
          </a:solidFill>
          <a:ln w="12700">
            <a:solidFill>
              <a:srgbClr val="E4E4E8"/>
            </a:solidFill>
          </a:ln>
        </p:spPr>
        <p:txBody>
          <a:bodyPr wrap="square" lIns="160000" tIns="140000" rIns="160000" bIns="120000" rtlCol="0" anchor="t">
            <a:noAutofit/>
          </a:bodyPr>
          <a:lstStyle/>
          <a:p>
            <a:pPr algn="l">
              <a:spcBef>
                <a:spcPts val="0"/>
              </a:spcBef>
              <a:spcAft>
                <a:spcPts val="300"/>
              </a:spcAft>
              <a:buNone/>
            </a:pPr>
            <a:r>
              <a:rPr lang="en-IN" sz="1900" b="0" i="0" dirty="0">
                <a:solidFill>
                  <a:srgbClr val="D4070F"/>
                </a:solidFill>
                <a:latin typeface="Segoe UI Semibold"/>
                <a:cs typeface="Segoe UI Semibold"/>
              </a:rPr>
              <a:t>03  </a:t>
            </a:r>
            <a:r>
              <a:rPr lang="en-IN" sz="1900" b="0" i="0" dirty="0">
                <a:solidFill>
                  <a:srgbClr val="1D1D1F"/>
                </a:solidFill>
                <a:latin typeface="Segoe UI Semibold"/>
                <a:cs typeface="Segoe UI Semibold"/>
              </a:rPr>
              <a:t>Private, local and free</a:t>
            </a:r>
          </a:p>
          <a:p>
            <a:pPr algn="l">
              <a:lnSpc>
                <a:spcPct val="105000"/>
              </a:lnSpc>
              <a:spcBef>
                <a:spcPts val="0"/>
              </a:spcBef>
              <a:spcAft>
                <a:spcPts val="200"/>
              </a:spcAft>
              <a:buNone/>
            </a:pPr>
            <a:r>
              <a:rPr lang="en-IN" sz="1550" b="0" i="0" dirty="0">
                <a:solidFill>
                  <a:srgbClr val="5F5F64"/>
                </a:solidFill>
                <a:latin typeface="Segoe UI"/>
                <a:cs typeface="Segoe UI"/>
              </a:rPr>
              <a:t>it works for you, on your own laptop, and never keeps your audio.</a:t>
            </a:r>
          </a:p>
        </p:txBody>
      </p:sp>
      <p:sp>
        <p:nvSpPr>
          <p:cNvPr id="105" name="Sync 105"/>
          <p:cNvSpPr txBox="1"/>
          <p:nvPr/>
        </p:nvSpPr>
        <p:spPr>
          <a:xfrm>
            <a:off x="560000" y="4910000"/>
            <a:ext cx="11080000" cy="1300000"/>
          </a:xfrm>
          <a:prstGeom prst="rect">
            <a:avLst/>
          </a:prstGeom>
          <a:noFill/>
          <a:ln>
            <a:noFill/>
          </a:ln>
        </p:spPr>
        <p:txBody>
          <a:bodyPr wrap="square" lIns="0" tIns="0" rIns="0" bIns="0" rtlCol="0" anchor="t">
            <a:noAutofit/>
          </a:bodyPr>
          <a:lstStyle/>
          <a:p>
            <a:pPr algn="ctr">
              <a:spcBef>
                <a:spcPts val="0"/>
              </a:spcBef>
              <a:spcAft>
                <a:spcPts val="1400"/>
              </a:spcAft>
              <a:buNone/>
            </a:pPr>
            <a:r>
              <a:rPr lang="en-IN" sz="1550" b="0" i="0" dirty="0">
                <a:solidFill>
                  <a:srgbClr val="1D1D1F"/>
                </a:solidFill>
                <a:latin typeface="Segoe UI Semibold"/>
                <a:cs typeface="Segoe UI Semibold"/>
              </a:rPr>
              <a:t>What's next:  </a:t>
            </a:r>
            <a:r>
              <a:rPr lang="en-IN" sz="1550" b="0" i="0" dirty="0">
                <a:solidFill>
                  <a:srgbClr val="5F5F64"/>
                </a:solidFill>
                <a:latin typeface="Segoe UI"/>
                <a:cs typeface="Segoe UI"/>
              </a:rPr>
              <a:t>pilots with real teams · a mobile companion · more languages · calendar and CRM connectors</a:t>
            </a:r>
          </a:p>
          <a:p>
            <a:pPr algn="ctr">
              <a:spcBef>
                <a:spcPts val="0"/>
              </a:spcBef>
              <a:spcAft>
                <a:spcPts val="0"/>
              </a:spcAft>
              <a:buNone/>
            </a:pPr>
            <a:r>
              <a:rPr lang="en-IN" sz="3000" b="0" i="0" dirty="0">
                <a:solidFill>
                  <a:srgbClr val="D4070F"/>
                </a:solidFill>
                <a:latin typeface="Segoe UI Semibold"/>
                <a:cs typeface="Segoe UI Semibold"/>
              </a:rPr>
              <a:t>Thank you</a:t>
            </a:r>
          </a:p>
        </p:txBody>
      </p:sp>
    </p:spTree>
    <p:extLst>
      <p:ext uri="{BB962C8B-B14F-4D97-AF65-F5344CB8AC3E}">
        <p14:creationId xmlns:p14="http://schemas.microsoft.com/office/powerpoint/2010/main" val="3655943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1268</Words>
  <Application>Microsoft Office PowerPoint</Application>
  <PresentationFormat>Widescreen</PresentationFormat>
  <Paragraphs>125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Clash Display</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Agnivesh Priyadarsanan</dc:creator>
  <cp:lastModifiedBy>Mohammed Aqueel Ahmed Khan</cp:lastModifiedBy>
  <cp:revision>3</cp:revision>
  <dcterms:created xsi:type="dcterms:W3CDTF">2026-10-09T18:53:17Z</dcterms:created>
  <dcterms:modified xsi:type="dcterms:W3CDTF">2026-10-10T04:01:37Z</dcterms:modified>
</cp:coreProperties>
</file>